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61" r:id="rId7"/>
    <p:sldId id="262" r:id="rId8"/>
    <p:sldId id="263" r:id="rId9"/>
    <p:sldId id="264" r:id="rId1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2" d="100"/>
          <a:sy n="82" d="100"/>
        </p:scale>
        <p:origin x="-1474" y="-91"/>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8" name="Rounded Rectangle 7"/>
          <p:cNvSpPr/>
          <p:nvPr/>
        </p:nvSpPr>
        <p:spPr>
          <a:xfrm>
            <a:off x="91440" y="101600"/>
            <a:ext cx="8961120" cy="6664960"/>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3/24/2025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Rectangle 8"/>
          <p:cNvSpPr/>
          <p:nvPr/>
        </p:nvSpPr>
        <p:spPr>
          <a:xfrm>
            <a:off x="345440" y="2942602"/>
            <a:ext cx="7147931" cy="2463800"/>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p:cNvSpPr/>
          <p:nvPr/>
        </p:nvSpPr>
        <p:spPr>
          <a:xfrm>
            <a:off x="7572652" y="2944634"/>
            <a:ext cx="1190348" cy="2459736"/>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p:cNvSpPr/>
          <p:nvPr/>
        </p:nvSpPr>
        <p:spPr>
          <a:xfrm>
            <a:off x="7712714" y="3136658"/>
            <a:ext cx="910224" cy="2075688"/>
          </a:xfrm>
          <a:prstGeom prst="rect">
            <a:avLst/>
          </a:prstGeom>
          <a:solidFill>
            <a:schemeClr val="accent3">
              <a:alpha val="70000"/>
            </a:schemeClr>
          </a:solidFill>
          <a:ln w="63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p:cNvSpPr/>
          <p:nvPr/>
        </p:nvSpPr>
        <p:spPr>
          <a:xfrm>
            <a:off x="445483" y="3055621"/>
            <a:ext cx="6947845" cy="2245359"/>
          </a:xfrm>
          <a:prstGeom prst="rect">
            <a:avLst/>
          </a:prstGeom>
          <a:solidFill>
            <a:srgbClr val="FFFFFF"/>
          </a:solidFill>
          <a:ln w="6350" cmpd="dbl">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Slide Number Placeholder 5"/>
          <p:cNvSpPr>
            <a:spLocks noGrp="1"/>
          </p:cNvSpPr>
          <p:nvPr>
            <p:ph type="sldNum" sz="quarter" idx="12"/>
          </p:nvPr>
        </p:nvSpPr>
        <p:spPr>
          <a:xfrm>
            <a:off x="7786826" y="4625268"/>
            <a:ext cx="762000" cy="457200"/>
          </a:xfrm>
        </p:spPr>
        <p:txBody>
          <a:bodyPr/>
          <a:lstStyle>
            <a:lvl1pPr algn="ctr">
              <a:defRPr sz="2800">
                <a:solidFill>
                  <a:schemeClr val="accent1">
                    <a:lumMod val="50000"/>
                  </a:schemeClr>
                </a:solidFill>
              </a:defRPr>
            </a:lvl1pPr>
          </a:lstStyle>
          <a:p>
            <a:fld id="{B6F15528-21DE-4FAA-801E-634DDDAF4B2B}" type="slidenum">
              <a:rPr lang="en-US" smtClean="0"/>
              <a:pPr/>
              <a:t>‹#›</a:t>
            </a:fld>
            <a:endParaRPr lang="en-US" dirty="0"/>
          </a:p>
        </p:txBody>
      </p:sp>
      <p:sp>
        <p:nvSpPr>
          <p:cNvPr id="11" name="Rectangle 10"/>
          <p:cNvSpPr/>
          <p:nvPr/>
        </p:nvSpPr>
        <p:spPr>
          <a:xfrm>
            <a:off x="541822" y="4559276"/>
            <a:ext cx="6755166" cy="664367"/>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p:cNvSpPr/>
          <p:nvPr/>
        </p:nvSpPr>
        <p:spPr>
          <a:xfrm>
            <a:off x="538971" y="3139440"/>
            <a:ext cx="6760868" cy="2077720"/>
          </a:xfrm>
          <a:prstGeom prst="rect">
            <a:avLst/>
          </a:prstGeom>
          <a:noFill/>
          <a:ln w="6350" cmpd="dbl">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Subtitle 2"/>
          <p:cNvSpPr>
            <a:spLocks noGrp="1"/>
          </p:cNvSpPr>
          <p:nvPr>
            <p:ph type="subTitle" idx="1"/>
          </p:nvPr>
        </p:nvSpPr>
        <p:spPr>
          <a:xfrm>
            <a:off x="642805" y="4648200"/>
            <a:ext cx="6553200" cy="457200"/>
          </a:xfrm>
        </p:spPr>
        <p:txBody>
          <a:bodyPr>
            <a:normAutofit/>
          </a:bodyPr>
          <a:lstStyle>
            <a:lvl1pPr marL="0" indent="0" algn="ctr">
              <a:buNone/>
              <a:defRPr sz="1800" cap="all" spc="300" baseline="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2" name="Title 1"/>
          <p:cNvSpPr>
            <a:spLocks noGrp="1"/>
          </p:cNvSpPr>
          <p:nvPr>
            <p:ph type="ctrTitle"/>
          </p:nvPr>
        </p:nvSpPr>
        <p:spPr>
          <a:xfrm>
            <a:off x="604705" y="3227033"/>
            <a:ext cx="6629400" cy="1219201"/>
          </a:xfrm>
        </p:spPr>
        <p:txBody>
          <a:bodyPr anchor="b" anchorCtr="0">
            <a:noAutofit/>
          </a:bodyPr>
          <a:lstStyle>
            <a:lvl1pPr>
              <a:defRPr sz="4000">
                <a:solidFill>
                  <a:schemeClr val="accent1">
                    <a:lumMod val="50000"/>
                  </a:schemeClr>
                </a:solidFill>
              </a:defRPr>
            </a:lvl1pPr>
          </a:lstStyle>
          <a:p>
            <a:r>
              <a:rPr lang="en-US" smtClean="0"/>
              <a:t>Click to edit Master title style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8" name="Rounded Rectangle 7"/>
          <p:cNvSpPr/>
          <p:nvPr/>
        </p:nvSpPr>
        <p:spPr>
          <a:xfrm>
            <a:off x="91440" y="101600"/>
            <a:ext cx="8961120" cy="6664960"/>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3/24/2025</a:t>
            </a:fld>
            <a:endParaRPr lang="en-US" dirty="0"/>
          </a:p>
        </p:txBody>
      </p:sp>
      <p:sp>
        <p:nvSpPr>
          <p:cNvPr id="13" name="Rectangle 12"/>
          <p:cNvSpPr/>
          <p:nvPr/>
        </p:nvSpPr>
        <p:spPr>
          <a:xfrm>
            <a:off x="451976" y="2946400"/>
            <a:ext cx="8265160" cy="2463800"/>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p:cNvSpPr/>
          <p:nvPr/>
        </p:nvSpPr>
        <p:spPr>
          <a:xfrm>
            <a:off x="567656" y="3048000"/>
            <a:ext cx="8033800" cy="2245359"/>
          </a:xfrm>
          <a:prstGeom prst="rect">
            <a:avLst/>
          </a:prstGeom>
          <a:solidFill>
            <a:srgbClr val="FFFFFF"/>
          </a:solidFill>
          <a:ln w="6350" cmpd="dbl">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
        <p:nvSpPr>
          <p:cNvPr id="2" name="Title 1"/>
          <p:cNvSpPr>
            <a:spLocks noGrp="1"/>
          </p:cNvSpPr>
          <p:nvPr>
            <p:ph type="title"/>
          </p:nvPr>
        </p:nvSpPr>
        <p:spPr>
          <a:xfrm>
            <a:off x="736456" y="3200399"/>
            <a:ext cx="7696200" cy="1295401"/>
          </a:xfrm>
        </p:spPr>
        <p:txBody>
          <a:bodyPr anchor="b" anchorCtr="0">
            <a:noAutofit/>
          </a:bodyPr>
          <a:lstStyle>
            <a:lvl1pPr algn="ctr" defTabSz="914400" rtl="0" eaLnBrk="1" latinLnBrk="0" hangingPunct="1">
              <a:spcBef>
                <a:spcPct val="0"/>
              </a:spcBef>
              <a:buNone/>
              <a:defRPr lang="en-US" sz="4000" kern="1200" cap="all" baseline="0" dirty="0">
                <a:solidFill>
                  <a:schemeClr val="accent1">
                    <a:lumMod val="50000"/>
                  </a:schemeClr>
                </a:solidFill>
                <a:latin typeface="+mj-lt"/>
                <a:ea typeface="+mj-ea"/>
                <a:cs typeface="+mj-cs"/>
              </a:defRPr>
            </a:lvl1pPr>
          </a:lstStyle>
          <a:p>
            <a:r>
              <a:rPr lang="en-US" smtClean="0"/>
              <a:t>Click to edit Master title style</a:t>
            </a:r>
            <a:endParaRPr lang="en-US" dirty="0"/>
          </a:p>
        </p:txBody>
      </p:sp>
      <p:sp>
        <p:nvSpPr>
          <p:cNvPr id="15" name="Rectangle 14"/>
          <p:cNvSpPr/>
          <p:nvPr/>
        </p:nvSpPr>
        <p:spPr>
          <a:xfrm>
            <a:off x="675496" y="4541520"/>
            <a:ext cx="7818120" cy="664367"/>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 Placeholder 2"/>
          <p:cNvSpPr>
            <a:spLocks noGrp="1"/>
          </p:cNvSpPr>
          <p:nvPr>
            <p:ph type="body" idx="1"/>
          </p:nvPr>
        </p:nvSpPr>
        <p:spPr>
          <a:xfrm>
            <a:off x="736456" y="4607510"/>
            <a:ext cx="7696200" cy="523783"/>
          </a:xfrm>
        </p:spPr>
        <p:txBody>
          <a:bodyPr anchor="ctr">
            <a:normAutofit/>
          </a:bodyPr>
          <a:lstStyle>
            <a:lvl1pPr marL="0" indent="0" algn="ctr">
              <a:buNone/>
              <a:defRPr sz="2000" cap="all" spc="250" baseline="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14" name="Rectangle 13"/>
          <p:cNvSpPr/>
          <p:nvPr/>
        </p:nvSpPr>
        <p:spPr>
          <a:xfrm>
            <a:off x="675757" y="3124200"/>
            <a:ext cx="7817599" cy="2077720"/>
          </a:xfrm>
          <a:prstGeom prst="rect">
            <a:avLst/>
          </a:prstGeom>
          <a:noFill/>
          <a:ln w="6350" cmpd="dbl">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26128" y="408372"/>
            <a:ext cx="8260672" cy="1039427"/>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426128" y="1719071"/>
            <a:ext cx="4038600" cy="440740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48200" y="1719071"/>
            <a:ext cx="4038600" cy="440740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3/24/2025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26128" y="408372"/>
            <a:ext cx="8260672" cy="1039427"/>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26128" y="1722438"/>
            <a:ext cx="4040188" cy="639762"/>
          </a:xfrm>
        </p:spPr>
        <p:txBody>
          <a:bodyPr anchor="b">
            <a:noAutofit/>
          </a:bodyPr>
          <a:lstStyle>
            <a:lvl1pPr marL="0" indent="0" algn="ctr">
              <a:buNone/>
              <a:defRPr sz="2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26128" y="2438400"/>
            <a:ext cx="4040188" cy="368776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722438"/>
            <a:ext cx="4041775" cy="639762"/>
          </a:xfrm>
        </p:spPr>
        <p:txBody>
          <a:bodyPr anchor="b">
            <a:noAutofit/>
          </a:bodyPr>
          <a:lstStyle>
            <a:lvl1pPr marL="0" indent="0" algn="ctr">
              <a:buNone/>
              <a:defRPr sz="2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438400"/>
            <a:ext cx="4041775" cy="368776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3/24/2025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3/24/2025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1" name="Rounded Rectangle 10"/>
          <p:cNvSpPr/>
          <p:nvPr/>
        </p:nvSpPr>
        <p:spPr>
          <a:xfrm>
            <a:off x="91440" y="101600"/>
            <a:ext cx="8961120" cy="6664960"/>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Date Placeholder 1"/>
          <p:cNvSpPr>
            <a:spLocks noGrp="1"/>
          </p:cNvSpPr>
          <p:nvPr>
            <p:ph type="dt" sz="half" idx="10"/>
          </p:nvPr>
        </p:nvSpPr>
        <p:spPr/>
        <p:txBody>
          <a:bodyPr/>
          <a:lstStyle/>
          <a:p>
            <a:fld id="{1D8BD707-D9CF-40AE-B4C6-C98DA3205C09}" type="datetimeFigureOut">
              <a:rPr lang="en-US" smtClean="0"/>
              <a:pPr/>
              <a:t>3/24/2025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2" name="Rounded Rectangle 11"/>
          <p:cNvSpPr/>
          <p:nvPr/>
        </p:nvSpPr>
        <p:spPr>
          <a:xfrm>
            <a:off x="91440" y="101600"/>
            <a:ext cx="8961120" cy="6664960"/>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Content Placeholder 2"/>
          <p:cNvSpPr>
            <a:spLocks noGrp="1"/>
          </p:cNvSpPr>
          <p:nvPr>
            <p:ph idx="1"/>
          </p:nvPr>
        </p:nvSpPr>
        <p:spPr>
          <a:xfrm>
            <a:off x="3886200" y="685800"/>
            <a:ext cx="4572000" cy="52578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3/24/2025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
        <p:nvSpPr>
          <p:cNvPr id="8" name="Rectangle 7"/>
          <p:cNvSpPr/>
          <p:nvPr/>
        </p:nvSpPr>
        <p:spPr>
          <a:xfrm>
            <a:off x="560034" y="1505712"/>
            <a:ext cx="2716566" cy="3523488"/>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p:cNvSpPr/>
          <p:nvPr/>
        </p:nvSpPr>
        <p:spPr>
          <a:xfrm>
            <a:off x="676690" y="1642472"/>
            <a:ext cx="2483254" cy="3234328"/>
          </a:xfrm>
          <a:prstGeom prst="rect">
            <a:avLst/>
          </a:prstGeom>
          <a:solidFill>
            <a:srgbClr val="FFFFFF"/>
          </a:solidFill>
          <a:ln w="6350" cmpd="dbl">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 Placeholder 3"/>
          <p:cNvSpPr>
            <a:spLocks noGrp="1"/>
          </p:cNvSpPr>
          <p:nvPr>
            <p:ph type="body" sz="half" idx="2"/>
          </p:nvPr>
        </p:nvSpPr>
        <p:spPr>
          <a:xfrm>
            <a:off x="769000" y="2971800"/>
            <a:ext cx="2298634" cy="1752600"/>
          </a:xfrm>
        </p:spPr>
        <p:txBody>
          <a:bodyPr/>
          <a:lstStyle>
            <a:lvl1pPr marL="0" indent="0">
              <a:spcBef>
                <a:spcPts val="400"/>
              </a:spcBef>
              <a:buNone/>
              <a:defRPr sz="140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2" name="Title 1"/>
          <p:cNvSpPr>
            <a:spLocks noGrp="1"/>
          </p:cNvSpPr>
          <p:nvPr>
            <p:ph type="title"/>
          </p:nvPr>
        </p:nvSpPr>
        <p:spPr>
          <a:xfrm>
            <a:off x="769000" y="1734312"/>
            <a:ext cx="2298634" cy="1191620"/>
          </a:xfrm>
        </p:spPr>
        <p:txBody>
          <a:bodyPr anchor="b">
            <a:normAutofit/>
          </a:bodyPr>
          <a:lstStyle>
            <a:lvl1pPr algn="l">
              <a:defRPr sz="2000" b="0">
                <a:solidFill>
                  <a:schemeClr val="accent1">
                    <a:lumMod val="75000"/>
                  </a:schemeClr>
                </a:solidFill>
              </a:defRPr>
            </a:lvl1pPr>
          </a:lstStyle>
          <a:p>
            <a:r>
              <a:rPr lang="en-US" smtClean="0"/>
              <a:t>Click to edit Master title style</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9" name="Rounded Rectangle 8"/>
          <p:cNvSpPr/>
          <p:nvPr/>
        </p:nvSpPr>
        <p:spPr>
          <a:xfrm>
            <a:off x="91440" y="101600"/>
            <a:ext cx="8961120" cy="6664960"/>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Picture Placeholder 2"/>
          <p:cNvSpPr>
            <a:spLocks noGrp="1"/>
          </p:cNvSpPr>
          <p:nvPr>
            <p:ph type="pic" idx="1"/>
          </p:nvPr>
        </p:nvSpPr>
        <p:spPr>
          <a:xfrm>
            <a:off x="685800" y="621437"/>
            <a:ext cx="7772400" cy="4331564"/>
          </a:xfrm>
          <a:solidFill>
            <a:schemeClr val="bg2"/>
          </a:solidFill>
          <a:ln>
            <a:noFill/>
          </a:ln>
          <a:effectLst>
            <a:softEdge rad="12700"/>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3/24/2025</a:t>
            </a:fld>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
        <p:nvSpPr>
          <p:cNvPr id="10" name="Rectangle 9"/>
          <p:cNvSpPr/>
          <p:nvPr/>
        </p:nvSpPr>
        <p:spPr>
          <a:xfrm>
            <a:off x="685800" y="4953000"/>
            <a:ext cx="7772400" cy="1371600"/>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p:cNvSpPr/>
          <p:nvPr/>
        </p:nvSpPr>
        <p:spPr>
          <a:xfrm>
            <a:off x="761999" y="5029200"/>
            <a:ext cx="7600765" cy="1202924"/>
          </a:xfrm>
          <a:prstGeom prst="rect">
            <a:avLst/>
          </a:prstGeom>
          <a:solidFill>
            <a:srgbClr val="FFFFFF"/>
          </a:solidFill>
          <a:ln w="6350" cmpd="dbl">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Footer Placeholder 5"/>
          <p:cNvSpPr>
            <a:spLocks noGrp="1"/>
          </p:cNvSpPr>
          <p:nvPr>
            <p:ph type="ftr" sz="quarter" idx="11"/>
          </p:nvPr>
        </p:nvSpPr>
        <p:spPr/>
        <p:txBody>
          <a:bodyPr/>
          <a:lstStyle/>
          <a:p>
            <a:endParaRPr lang="en-US" dirty="0"/>
          </a:p>
        </p:txBody>
      </p:sp>
      <p:sp>
        <p:nvSpPr>
          <p:cNvPr id="13" name="Rectangle 12"/>
          <p:cNvSpPr/>
          <p:nvPr/>
        </p:nvSpPr>
        <p:spPr>
          <a:xfrm>
            <a:off x="914400" y="5638800"/>
            <a:ext cx="7328514" cy="451696"/>
          </a:xfrm>
          <a:prstGeom prst="rect">
            <a:avLst/>
          </a:prstGeom>
          <a:solidFill>
            <a:schemeClr val="accent1"/>
          </a:solidFill>
          <a:ln w="6350" cmpd="dbl">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p:cNvSpPr/>
          <p:nvPr/>
        </p:nvSpPr>
        <p:spPr>
          <a:xfrm>
            <a:off x="605589" y="5074920"/>
            <a:ext cx="7946136" cy="1097280"/>
          </a:xfrm>
          <a:prstGeom prst="rect">
            <a:avLst/>
          </a:prstGeom>
          <a:noFill/>
          <a:ln w="6350" cmpd="dbl">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 Placeholder 3"/>
          <p:cNvSpPr>
            <a:spLocks noGrp="1"/>
          </p:cNvSpPr>
          <p:nvPr>
            <p:ph type="body" sz="half" idx="2"/>
          </p:nvPr>
        </p:nvSpPr>
        <p:spPr>
          <a:xfrm>
            <a:off x="956289" y="5656556"/>
            <a:ext cx="7244736" cy="401715"/>
          </a:xfrm>
        </p:spPr>
        <p:txBody>
          <a:bodyPr anchor="ctr">
            <a:normAutofit/>
          </a:bodyPr>
          <a:lstStyle>
            <a:lvl1pPr marL="0" indent="0" algn="ctr">
              <a:buNone/>
              <a:defRPr sz="1500" cap="all" spc="250" baseline="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2" name="Title 1"/>
          <p:cNvSpPr>
            <a:spLocks noGrp="1"/>
          </p:cNvSpPr>
          <p:nvPr>
            <p:ph type="title"/>
          </p:nvPr>
        </p:nvSpPr>
        <p:spPr>
          <a:xfrm>
            <a:off x="914400" y="5105400"/>
            <a:ext cx="7328514" cy="523043"/>
          </a:xfrm>
        </p:spPr>
        <p:txBody>
          <a:bodyPr anchor="ctr" anchorCtr="0"/>
          <a:lstStyle>
            <a:lvl1pPr algn="ctr">
              <a:defRPr sz="2000" b="0">
                <a:solidFill>
                  <a:schemeClr val="accent1">
                    <a:lumMod val="75000"/>
                  </a:schemeClr>
                </a:solidFill>
              </a:defRPr>
            </a:lvl1pPr>
          </a:lstStyle>
          <a:p>
            <a:r>
              <a:rPr lang="en-US" smtClean="0"/>
              <a:t>Click to edit Master title style</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6861702" y="228600"/>
            <a:ext cx="1859280" cy="6122634"/>
          </a:xfrm>
          <a:prstGeom prst="rect">
            <a:avLst/>
          </a:prstGeom>
          <a:solidFill>
            <a:srgbClr val="FFFFFF">
              <a:alpha val="85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dirty="0">
              <a:solidFill>
                <a:schemeClr val="lt1"/>
              </a:solidFill>
              <a:latin typeface="+mn-lt"/>
              <a:ea typeface="+mn-ea"/>
              <a:cs typeface="+mn-cs"/>
            </a:endParaRPr>
          </a:p>
        </p:txBody>
      </p:sp>
      <p:sp>
        <p:nvSpPr>
          <p:cNvPr id="8" name="Rectangle 7"/>
          <p:cNvSpPr/>
          <p:nvPr/>
        </p:nvSpPr>
        <p:spPr>
          <a:xfrm>
            <a:off x="6955225" y="351409"/>
            <a:ext cx="1672235" cy="5877017"/>
          </a:xfrm>
          <a:prstGeom prst="rect">
            <a:avLst/>
          </a:pr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Vertical Title 1"/>
          <p:cNvSpPr>
            <a:spLocks noGrp="1"/>
          </p:cNvSpPr>
          <p:nvPr>
            <p:ph type="title" orient="vert"/>
          </p:nvPr>
        </p:nvSpPr>
        <p:spPr>
          <a:xfrm>
            <a:off x="7048577" y="395427"/>
            <a:ext cx="1485531" cy="578898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7200" y="380999"/>
            <a:ext cx="6172200" cy="5791201"/>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3/24/2025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7" name="Rounded Rectangle 6"/>
          <p:cNvSpPr/>
          <p:nvPr/>
        </p:nvSpPr>
        <p:spPr>
          <a:xfrm>
            <a:off x="91440" y="101600"/>
            <a:ext cx="8961120" cy="6664960"/>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 Placeholder 2"/>
          <p:cNvSpPr>
            <a:spLocks noGrp="1"/>
          </p:cNvSpPr>
          <p:nvPr>
            <p:ph type="body" idx="1"/>
          </p:nvPr>
        </p:nvSpPr>
        <p:spPr>
          <a:xfrm>
            <a:off x="457200" y="1752600"/>
            <a:ext cx="8229600" cy="43735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2"/>
                </a:solidFill>
              </a:defRPr>
            </a:lvl1pPr>
          </a:lstStyle>
          <a:p>
            <a:fld id="{1D8BD707-D9CF-40AE-B4C6-C98DA3205C09}" type="datetimeFigureOut">
              <a:rPr lang="en-US" smtClean="0"/>
              <a:pPr/>
              <a:t>3/24/2025</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2"/>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2"/>
                </a:solidFill>
              </a:defRPr>
            </a:lvl1pPr>
          </a:lstStyle>
          <a:p>
            <a:fld id="{B6F15528-21DE-4FAA-801E-634DDDAF4B2B}" type="slidenum">
              <a:rPr lang="en-US" smtClean="0"/>
              <a:pPr/>
              <a:t>‹#›</a:t>
            </a:fld>
            <a:endParaRPr lang="en-US" dirty="0"/>
          </a:p>
        </p:txBody>
      </p:sp>
      <p:sp>
        <p:nvSpPr>
          <p:cNvPr id="9" name="Rectangle 8"/>
          <p:cNvSpPr/>
          <p:nvPr/>
        </p:nvSpPr>
        <p:spPr>
          <a:xfrm>
            <a:off x="274320" y="278166"/>
            <a:ext cx="8595360" cy="1325880"/>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dirty="0">
              <a:solidFill>
                <a:schemeClr val="lt1"/>
              </a:solidFill>
              <a:latin typeface="+mn-lt"/>
              <a:ea typeface="+mn-ea"/>
              <a:cs typeface="+mn-cs"/>
            </a:endParaRPr>
          </a:p>
        </p:txBody>
      </p:sp>
      <p:sp>
        <p:nvSpPr>
          <p:cNvPr id="10" name="Rectangle 9"/>
          <p:cNvSpPr/>
          <p:nvPr/>
        </p:nvSpPr>
        <p:spPr>
          <a:xfrm>
            <a:off x="372863" y="372862"/>
            <a:ext cx="8380520" cy="1118587"/>
          </a:xfrm>
          <a:prstGeom prst="rect">
            <a:avLst/>
          </a:pr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Placeholder 1"/>
          <p:cNvSpPr>
            <a:spLocks noGrp="1"/>
          </p:cNvSpPr>
          <p:nvPr>
            <p:ph type="title"/>
          </p:nvPr>
        </p:nvSpPr>
        <p:spPr>
          <a:xfrm>
            <a:off x="426128" y="408372"/>
            <a:ext cx="8260672" cy="1039427"/>
          </a:xfrm>
          <a:prstGeom prst="rect">
            <a:avLst/>
          </a:prstGeom>
        </p:spPr>
        <p:txBody>
          <a:bodyPr vert="horz" lIns="91440" tIns="45720" rIns="91440" bIns="45720" rtlCol="0" anchor="ctr">
            <a:normAutofit/>
          </a:bodyPr>
          <a:lstStyle/>
          <a:p>
            <a:r>
              <a:rPr lang="en-US" smtClean="0"/>
              <a:t>Click to edit Master title style</a:t>
            </a:r>
            <a:endParaRPr lang="en-US" dirty="0"/>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914400" rtl="0" eaLnBrk="1" latinLnBrk="0" hangingPunct="1">
        <a:spcBef>
          <a:spcPct val="0"/>
        </a:spcBef>
        <a:buNone/>
        <a:defRPr sz="3500" kern="1200" cap="all" baseline="0">
          <a:solidFill>
            <a:schemeClr val="accent1">
              <a:lumMod val="75000"/>
            </a:schemeClr>
          </a:solidFill>
          <a:latin typeface="+mj-lt"/>
          <a:ea typeface="+mj-ea"/>
          <a:cs typeface="+mj-cs"/>
        </a:defRPr>
      </a:lvl1pPr>
    </p:titleStyle>
    <p:bodyStyle>
      <a:lvl1pPr marL="342900" indent="-228600" algn="l" defTabSz="914400" rtl="0" eaLnBrk="1" latinLnBrk="0" hangingPunct="1">
        <a:spcBef>
          <a:spcPct val="20000"/>
        </a:spcBef>
        <a:buClr>
          <a:schemeClr val="accent1"/>
        </a:buClr>
        <a:buFont typeface="Arial" pitchFamily="34" charset="0"/>
        <a:buChar char="•"/>
        <a:defRPr sz="2400" kern="1200">
          <a:solidFill>
            <a:schemeClr val="tx2"/>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2"/>
          </a:solidFill>
          <a:latin typeface="+mn-lt"/>
          <a:ea typeface="+mn-ea"/>
          <a:cs typeface="+mn-cs"/>
        </a:defRPr>
      </a:lvl2pPr>
      <a:lvl3pPr marL="914400" indent="-228600" algn="l" defTabSz="914400" rtl="0" eaLnBrk="1" latinLnBrk="0" hangingPunct="1">
        <a:spcBef>
          <a:spcPct val="20000"/>
        </a:spcBef>
        <a:buClr>
          <a:schemeClr val="accent3"/>
        </a:buClr>
        <a:buFont typeface="Arial" pitchFamily="34" charset="0"/>
        <a:buChar char="•"/>
        <a:defRPr sz="1800" kern="1200">
          <a:solidFill>
            <a:schemeClr val="tx2"/>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2"/>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600" kern="1200" baseline="0">
          <a:solidFill>
            <a:schemeClr val="tx2"/>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a:solidFill>
            <a:schemeClr val="tx2"/>
          </a:solidFill>
          <a:latin typeface="+mn-lt"/>
          <a:ea typeface="+mn-ea"/>
          <a:cs typeface="+mn-cs"/>
        </a:defRPr>
      </a:lvl6pPr>
      <a:lvl7pPr marL="2011680" indent="-182880" algn="l" defTabSz="914400" rtl="0" eaLnBrk="1" latinLnBrk="0" hangingPunct="1">
        <a:spcBef>
          <a:spcPct val="20000"/>
        </a:spcBef>
        <a:buClr>
          <a:schemeClr val="accent2"/>
        </a:buClr>
        <a:buFont typeface="Arial" pitchFamily="34" charset="0"/>
        <a:buChar char="•"/>
        <a:defRPr sz="1400" kern="1200">
          <a:solidFill>
            <a:schemeClr val="tx2"/>
          </a:solidFill>
          <a:latin typeface="+mn-lt"/>
          <a:ea typeface="+mn-ea"/>
          <a:cs typeface="+mn-cs"/>
        </a:defRPr>
      </a:lvl7pPr>
      <a:lvl8pPr marL="2194560" indent="-182880" algn="l" defTabSz="914400" rtl="0" eaLnBrk="1" latinLnBrk="0" hangingPunct="1">
        <a:spcBef>
          <a:spcPct val="20000"/>
        </a:spcBef>
        <a:buClr>
          <a:schemeClr val="accent3"/>
        </a:buClr>
        <a:buFont typeface="Arial" pitchFamily="34" charset="0"/>
        <a:buChar char="•"/>
        <a:defRPr sz="1400" kern="1200">
          <a:solidFill>
            <a:schemeClr val="tx2"/>
          </a:solidFill>
          <a:latin typeface="+mn-lt"/>
          <a:ea typeface="+mn-ea"/>
          <a:cs typeface="+mn-cs"/>
        </a:defRPr>
      </a:lvl8pPr>
      <a:lvl9pPr marL="2377440" indent="-182880" algn="l" defTabSz="914400" rtl="0" eaLnBrk="1" latinLnBrk="0" hangingPunct="1">
        <a:spcBef>
          <a:spcPct val="20000"/>
        </a:spcBef>
        <a:buClr>
          <a:schemeClr val="accent4"/>
        </a:buClr>
        <a:buFont typeface="Arial" pitchFamily="34" charset="0"/>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solidFill>
            <a:schemeClr val="accent3">
              <a:lumMod val="60000"/>
              <a:lumOff val="40000"/>
            </a:schemeClr>
          </a:solidFill>
        </p:spPr>
        <p:txBody>
          <a:bodyPr/>
          <a:lstStyle/>
          <a:p>
            <a:r>
              <a:rPr lang="en-IN" dirty="0">
                <a:solidFill>
                  <a:srgbClr val="FF0000"/>
                </a:solidFill>
              </a:rPr>
              <a:t>Blockchain</a:t>
            </a:r>
            <a:endParaRPr lang="en-IN" dirty="0">
              <a:solidFill>
                <a:srgbClr val="FF0000"/>
              </a:solidFill>
            </a:endParaRPr>
          </a:p>
        </p:txBody>
      </p:sp>
    </p:spTree>
    <p:extLst>
      <p:ext uri="{BB962C8B-B14F-4D97-AF65-F5344CB8AC3E}">
        <p14:creationId xmlns:p14="http://schemas.microsoft.com/office/powerpoint/2010/main" val="243613647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6200" y="152401"/>
            <a:ext cx="9067800" cy="6863417"/>
          </a:xfrm>
          <a:prstGeom prst="rect">
            <a:avLst/>
          </a:prstGeom>
          <a:noFill/>
        </p:spPr>
        <p:txBody>
          <a:bodyPr wrap="square" rtlCol="0">
            <a:spAutoFit/>
          </a:bodyPr>
          <a:lstStyle/>
          <a:p>
            <a:r>
              <a:rPr lang="en-IN" sz="2400" b="1" cap="all" dirty="0" smtClean="0">
                <a:solidFill>
                  <a:srgbClr val="FF0000"/>
                </a:solidFill>
              </a:rPr>
              <a:t>Definition:</a:t>
            </a:r>
          </a:p>
          <a:p>
            <a:r>
              <a:rPr lang="en-US" sz="2000" b="1" dirty="0"/>
              <a:t>Blockchain is a decentralized digital ledger that securely stores records across a network of computers in a way that is transparent, immutable, and resistant to tampering</a:t>
            </a:r>
            <a:r>
              <a:rPr lang="en-US" sz="2000" b="1" dirty="0" smtClean="0"/>
              <a:t>.</a:t>
            </a:r>
          </a:p>
          <a:p>
            <a:r>
              <a:rPr lang="en-US" sz="2000" b="1" dirty="0"/>
              <a:t> </a:t>
            </a:r>
            <a:r>
              <a:rPr lang="en-US" sz="2000" b="1" dirty="0" smtClean="0"/>
              <a:t>                                                or</a:t>
            </a:r>
            <a:endParaRPr lang="en-US" sz="2000" b="1" dirty="0"/>
          </a:p>
          <a:p>
            <a:r>
              <a:rPr lang="en-US" sz="2000" b="1" dirty="0"/>
              <a:t>Blockchain is a digital ledger that records and verifies transactions across a network of computers. It's a decentralized system that doesn't rely on a central authority to confirm transactions. </a:t>
            </a:r>
            <a:endParaRPr lang="en-US" sz="2000" b="1" dirty="0" smtClean="0"/>
          </a:p>
          <a:p>
            <a:endParaRPr lang="en-IN" sz="2000" dirty="0"/>
          </a:p>
          <a:p>
            <a:pPr marL="342900" indent="-342900">
              <a:buFont typeface="Wingdings" pitchFamily="2" charset="2"/>
              <a:buChar char="q"/>
            </a:pPr>
            <a:r>
              <a:rPr lang="en-US" sz="2000" b="1" dirty="0"/>
              <a:t>They are best known for their crucial role in cryptocurrency systems, maintaining a secure and decentralized record of </a:t>
            </a:r>
            <a:r>
              <a:rPr lang="en-US" sz="2000" b="1" dirty="0" smtClean="0"/>
              <a:t>transactions.</a:t>
            </a:r>
          </a:p>
          <a:p>
            <a:pPr marL="342900" indent="-342900">
              <a:buFont typeface="Wingdings" pitchFamily="2" charset="2"/>
              <a:buChar char="q"/>
            </a:pPr>
            <a:endParaRPr lang="en-US" sz="2000" b="1" dirty="0"/>
          </a:p>
          <a:p>
            <a:pPr marL="342900" indent="-342900">
              <a:buFont typeface="Wingdings" pitchFamily="2" charset="2"/>
              <a:buChar char="q"/>
            </a:pPr>
            <a:r>
              <a:rPr lang="en-US" sz="2000" b="1" dirty="0"/>
              <a:t>Blockchains can be used to make data in any industry immutable—meaning it cannot  be altered</a:t>
            </a:r>
            <a:r>
              <a:rPr lang="en-US" sz="2000" b="1" dirty="0" smtClean="0"/>
              <a:t>.</a:t>
            </a:r>
          </a:p>
          <a:p>
            <a:pPr marL="342900" indent="-342900">
              <a:buFont typeface="Wingdings" pitchFamily="2" charset="2"/>
              <a:buChar char="q"/>
            </a:pPr>
            <a:endParaRPr lang="en-US" sz="2000" b="1" dirty="0" smtClean="0"/>
          </a:p>
          <a:p>
            <a:pPr marL="342900" indent="-342900">
              <a:buFont typeface="Wingdings" pitchFamily="2" charset="2"/>
              <a:buChar char="q"/>
            </a:pPr>
            <a:r>
              <a:rPr lang="en-US" sz="2000" b="1" dirty="0"/>
              <a:t>blockchains store data in blocks linked together via cryptography</a:t>
            </a:r>
            <a:r>
              <a:rPr lang="en-US" sz="2000" b="1" dirty="0" smtClean="0"/>
              <a:t>.</a:t>
            </a:r>
          </a:p>
          <a:p>
            <a:endParaRPr lang="en-US" sz="2000" b="1" dirty="0" smtClean="0"/>
          </a:p>
          <a:p>
            <a:pPr marL="342900" indent="-342900">
              <a:buFont typeface="Wingdings" pitchFamily="2" charset="2"/>
              <a:buChar char="q"/>
            </a:pPr>
            <a:r>
              <a:rPr lang="en-US" sz="2000" b="1" dirty="0"/>
              <a:t>A </a:t>
            </a:r>
            <a:r>
              <a:rPr lang="en-US" sz="2000" b="1" dirty="0" smtClean="0"/>
              <a:t>block is continuously </a:t>
            </a:r>
            <a:r>
              <a:rPr lang="en-US" sz="2000" b="1" dirty="0"/>
              <a:t>growing list of ordered </a:t>
            </a:r>
            <a:r>
              <a:rPr lang="en-US" sz="2000" b="1" dirty="0" smtClean="0"/>
              <a:t>records.</a:t>
            </a:r>
          </a:p>
          <a:p>
            <a:pPr marL="342900" indent="-342900">
              <a:buFont typeface="Wingdings" pitchFamily="2" charset="2"/>
              <a:buChar char="q"/>
            </a:pPr>
            <a:endParaRPr lang="en-US" sz="2000" b="1" dirty="0"/>
          </a:p>
          <a:p>
            <a:pPr marL="342900" indent="-342900">
              <a:buFont typeface="Wingdings" pitchFamily="2" charset="2"/>
              <a:buChar char="q"/>
            </a:pPr>
            <a:r>
              <a:rPr lang="en-US" sz="2000" dirty="0"/>
              <a:t> </a:t>
            </a:r>
            <a:r>
              <a:rPr lang="en-US" sz="2000" b="1" dirty="0"/>
              <a:t>Each block contains a cryptographic hash of the previous block, a timestamp, and transaction data</a:t>
            </a:r>
            <a:endParaRPr lang="en-US" sz="2000" b="1" dirty="0"/>
          </a:p>
          <a:p>
            <a:endParaRPr lang="en-IN" sz="2000" b="1" dirty="0"/>
          </a:p>
        </p:txBody>
      </p:sp>
    </p:spTree>
    <p:extLst>
      <p:ext uri="{BB962C8B-B14F-4D97-AF65-F5344CB8AC3E}">
        <p14:creationId xmlns:p14="http://schemas.microsoft.com/office/powerpoint/2010/main" val="177281322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6200" y="0"/>
            <a:ext cx="8915400" cy="7171194"/>
          </a:xfrm>
          <a:prstGeom prst="rect">
            <a:avLst/>
          </a:prstGeom>
          <a:noFill/>
        </p:spPr>
        <p:txBody>
          <a:bodyPr wrap="square" rtlCol="0">
            <a:spAutoFit/>
          </a:bodyPr>
          <a:lstStyle/>
          <a:p>
            <a:pPr marL="342900" indent="-342900">
              <a:buFont typeface="Wingdings" pitchFamily="2" charset="2"/>
              <a:buChar char="q"/>
            </a:pPr>
            <a:r>
              <a:rPr lang="en-US" sz="2000" b="1" dirty="0"/>
              <a:t>A cryptographic hash of the previous block is a unique fixed-length identifier generated using a cryptographic hash function (like SHA-256) from the data of the previous block in a blockchain. </a:t>
            </a:r>
            <a:r>
              <a:rPr lang="en-US" sz="2000" b="1" dirty="0"/>
              <a:t>It ensures data integrity, prevents tampering, and links blocks together securely</a:t>
            </a:r>
            <a:r>
              <a:rPr lang="en-US" sz="2000" b="1" dirty="0" smtClean="0"/>
              <a:t>.</a:t>
            </a:r>
          </a:p>
          <a:p>
            <a:pPr marL="342900" indent="-342900">
              <a:buFont typeface="Wingdings" pitchFamily="2" charset="2"/>
              <a:buChar char="q"/>
            </a:pPr>
            <a:endParaRPr lang="en-US" sz="2000" b="1" dirty="0"/>
          </a:p>
          <a:p>
            <a:pPr marL="342900" indent="-342900">
              <a:buFont typeface="Wingdings" pitchFamily="2" charset="2"/>
              <a:buChar char="q"/>
            </a:pPr>
            <a:r>
              <a:rPr lang="en-US" sz="2000" b="1" dirty="0"/>
              <a:t>Consensus of the network is the process by which all nodes in a blockchain agree on the validity of transactions and the state of the ledger. Common consensus mechanisms include Proof of Work (</a:t>
            </a:r>
            <a:r>
              <a:rPr lang="en-US" sz="2000" b="1" dirty="0" err="1"/>
              <a:t>PoW</a:t>
            </a:r>
            <a:r>
              <a:rPr lang="en-US" sz="2000" b="1" dirty="0"/>
              <a:t>) and Proof of Stake (</a:t>
            </a:r>
            <a:r>
              <a:rPr lang="en-US" sz="2000" b="1" dirty="0" err="1"/>
              <a:t>PoS</a:t>
            </a:r>
            <a:r>
              <a:rPr lang="en-US" sz="2000" b="1" dirty="0"/>
              <a:t>), ensuring security and decentralization</a:t>
            </a:r>
            <a:r>
              <a:rPr lang="en-US" sz="2000" b="1" dirty="0" smtClean="0"/>
              <a:t>.</a:t>
            </a:r>
          </a:p>
          <a:p>
            <a:pPr marL="342900" indent="-342900">
              <a:buFont typeface="Wingdings" pitchFamily="2" charset="2"/>
              <a:buChar char="q"/>
            </a:pPr>
            <a:endParaRPr lang="en-US" sz="2000" b="1" dirty="0"/>
          </a:p>
          <a:p>
            <a:pPr marL="342900" indent="-342900">
              <a:buFont typeface="Wingdings" pitchFamily="2" charset="2"/>
              <a:buChar char="q"/>
            </a:pPr>
            <a:r>
              <a:rPr lang="en-US" sz="2000" b="1" dirty="0"/>
              <a:t>Proof of Work (</a:t>
            </a:r>
            <a:r>
              <a:rPr lang="en-US" sz="2000" b="1" dirty="0" err="1"/>
              <a:t>PoW</a:t>
            </a:r>
            <a:r>
              <a:rPr lang="en-US" sz="2000" b="1" dirty="0"/>
              <a:t>) is a consensus mechanism in blockchain where miners solve complex mathematical puzzles to validate transactions and add new blocks. It ensures security and prevents fraud but requires high computational power and energy. Bitcoin uses </a:t>
            </a:r>
            <a:r>
              <a:rPr lang="en-US" sz="2000" b="1" dirty="0" err="1"/>
              <a:t>PoW</a:t>
            </a:r>
            <a:r>
              <a:rPr lang="en-US" sz="2000" b="1" dirty="0"/>
              <a:t>.</a:t>
            </a:r>
          </a:p>
          <a:p>
            <a:pPr marL="342900" indent="-342900">
              <a:buFont typeface="Wingdings" pitchFamily="2" charset="2"/>
              <a:buChar char="q"/>
            </a:pPr>
            <a:endParaRPr lang="en-US" sz="2000" b="1" dirty="0"/>
          </a:p>
          <a:p>
            <a:pPr marL="342900" indent="-342900">
              <a:buFont typeface="Wingdings" pitchFamily="2" charset="2"/>
              <a:buChar char="q"/>
            </a:pPr>
            <a:r>
              <a:rPr lang="en-US" sz="2000" b="1" dirty="0"/>
              <a:t>Proof of Stake (</a:t>
            </a:r>
            <a:r>
              <a:rPr lang="en-US" sz="2000" b="1" dirty="0" err="1"/>
              <a:t>PoS</a:t>
            </a:r>
            <a:r>
              <a:rPr lang="en-US" sz="2000" b="1" dirty="0"/>
              <a:t>) is a blockchain consensus mechanism where validators are chosen to create new blocks based on the amount of cryptocurrency they "stake" as collateral. It is energy-efficient compared to Proof of Work (</a:t>
            </a:r>
            <a:r>
              <a:rPr lang="en-US" sz="2000" b="1" dirty="0" err="1"/>
              <a:t>PoW</a:t>
            </a:r>
            <a:r>
              <a:rPr lang="en-US" sz="2000" b="1" dirty="0"/>
              <a:t>) and enhances security while reducing computational costs.</a:t>
            </a:r>
          </a:p>
          <a:p>
            <a:endParaRPr lang="en-US" sz="2000" b="1" dirty="0"/>
          </a:p>
        </p:txBody>
      </p:sp>
    </p:spTree>
    <p:extLst>
      <p:ext uri="{BB962C8B-B14F-4D97-AF65-F5344CB8AC3E}">
        <p14:creationId xmlns:p14="http://schemas.microsoft.com/office/powerpoint/2010/main" val="374247128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228600"/>
            <a:ext cx="8915400" cy="6340197"/>
          </a:xfrm>
          <a:prstGeom prst="rect">
            <a:avLst/>
          </a:prstGeom>
          <a:noFill/>
        </p:spPr>
        <p:txBody>
          <a:bodyPr wrap="square" rtlCol="0">
            <a:spAutoFit/>
          </a:bodyPr>
          <a:lstStyle/>
          <a:p>
            <a:r>
              <a:rPr lang="en-US" sz="3200" b="1" dirty="0">
                <a:solidFill>
                  <a:srgbClr val="FF0000"/>
                </a:solidFill>
              </a:rPr>
              <a:t>How Does a Blockchain Work</a:t>
            </a:r>
            <a:r>
              <a:rPr lang="en-US" sz="3200" b="1" dirty="0" smtClean="0">
                <a:solidFill>
                  <a:srgbClr val="FF0000"/>
                </a:solidFill>
              </a:rPr>
              <a:t>?</a:t>
            </a:r>
          </a:p>
          <a:p>
            <a:endParaRPr lang="en-US" sz="2400" b="1" dirty="0" smtClean="0">
              <a:solidFill>
                <a:srgbClr val="FF0000"/>
              </a:solidFill>
            </a:endParaRPr>
          </a:p>
          <a:p>
            <a:pPr marL="285750" indent="-285750">
              <a:buFont typeface="Wingdings" pitchFamily="2" charset="2"/>
              <a:buChar char="q"/>
            </a:pPr>
            <a:r>
              <a:rPr lang="en-US" sz="2400" b="1" dirty="0" smtClean="0"/>
              <a:t>Transaction </a:t>
            </a:r>
            <a:r>
              <a:rPr lang="en-US" sz="2400" b="1" dirty="0"/>
              <a:t>Initiation</a:t>
            </a:r>
            <a:r>
              <a:rPr lang="en-US" sz="2400" dirty="0"/>
              <a:t> – A user requests a transaction (e.g., sending cryptocurrency).</a:t>
            </a:r>
          </a:p>
          <a:p>
            <a:pPr marL="285750" indent="-285750">
              <a:buFont typeface="Wingdings" pitchFamily="2" charset="2"/>
              <a:buChar char="q"/>
            </a:pPr>
            <a:r>
              <a:rPr lang="en-US" sz="2400" b="1" dirty="0"/>
              <a:t>Transaction Verification</a:t>
            </a:r>
            <a:r>
              <a:rPr lang="en-US" sz="2400" dirty="0"/>
              <a:t> – Network nodes (computers) validate the transaction using consensus mechanisms like </a:t>
            </a:r>
            <a:r>
              <a:rPr lang="en-US" sz="2400" b="1" dirty="0" err="1"/>
              <a:t>PoW</a:t>
            </a:r>
            <a:r>
              <a:rPr lang="en-US" sz="2400" dirty="0"/>
              <a:t> or </a:t>
            </a:r>
            <a:r>
              <a:rPr lang="en-US" sz="2400" b="1" dirty="0" err="1"/>
              <a:t>PoS</a:t>
            </a:r>
            <a:r>
              <a:rPr lang="en-US" sz="2400" dirty="0" err="1"/>
              <a:t>.</a:t>
            </a:r>
            <a:endParaRPr lang="en-US" sz="2400" dirty="0"/>
          </a:p>
          <a:p>
            <a:pPr marL="285750" indent="-285750">
              <a:buFont typeface="Wingdings" pitchFamily="2" charset="2"/>
              <a:buChar char="q"/>
            </a:pPr>
            <a:r>
              <a:rPr lang="en-US" sz="2400" b="1" dirty="0"/>
              <a:t>Block Creation</a:t>
            </a:r>
            <a:r>
              <a:rPr lang="en-US" sz="2400" dirty="0"/>
              <a:t> – Verified transactions are grouped into a block.</a:t>
            </a:r>
          </a:p>
          <a:p>
            <a:pPr marL="285750" indent="-285750">
              <a:buFont typeface="Wingdings" pitchFamily="2" charset="2"/>
              <a:buChar char="q"/>
            </a:pPr>
            <a:r>
              <a:rPr lang="en-US" sz="2400" b="1" dirty="0"/>
              <a:t>Hashing and Linking</a:t>
            </a:r>
            <a:r>
              <a:rPr lang="en-US" sz="2400" dirty="0"/>
              <a:t> – Each block contains a unique cryptographic hash of the previous block, ensuring security.</a:t>
            </a:r>
          </a:p>
          <a:p>
            <a:pPr marL="285750" indent="-285750">
              <a:buFont typeface="Wingdings" pitchFamily="2" charset="2"/>
              <a:buChar char="q"/>
            </a:pPr>
            <a:r>
              <a:rPr lang="en-US" sz="2400" b="1" dirty="0"/>
              <a:t>Consensus and Addition</a:t>
            </a:r>
            <a:r>
              <a:rPr lang="en-US" sz="2400" dirty="0"/>
              <a:t> – The network agrees on the block's validity, and it is added to the blockchain.</a:t>
            </a:r>
          </a:p>
          <a:p>
            <a:pPr marL="285750" indent="-285750">
              <a:buFont typeface="Wingdings" pitchFamily="2" charset="2"/>
              <a:buChar char="q"/>
            </a:pPr>
            <a:r>
              <a:rPr lang="en-US" sz="2400" b="1" dirty="0"/>
              <a:t>Ledger Update</a:t>
            </a:r>
            <a:r>
              <a:rPr lang="en-US" sz="2400" dirty="0"/>
              <a:t> – The updated blockchain is distributed across all network nodes.</a:t>
            </a:r>
          </a:p>
          <a:p>
            <a:endParaRPr lang="en-IN" dirty="0"/>
          </a:p>
        </p:txBody>
      </p:sp>
    </p:spTree>
    <p:extLst>
      <p:ext uri="{BB962C8B-B14F-4D97-AF65-F5344CB8AC3E}">
        <p14:creationId xmlns:p14="http://schemas.microsoft.com/office/powerpoint/2010/main" val="92205206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2400" y="304800"/>
            <a:ext cx="8915400" cy="5570756"/>
          </a:xfrm>
          <a:prstGeom prst="rect">
            <a:avLst/>
          </a:prstGeom>
          <a:noFill/>
        </p:spPr>
        <p:txBody>
          <a:bodyPr wrap="square" rtlCol="0">
            <a:spAutoFit/>
          </a:bodyPr>
          <a:lstStyle/>
          <a:p>
            <a:r>
              <a:rPr lang="en-US" sz="3200" b="1" dirty="0" smtClean="0">
                <a:solidFill>
                  <a:srgbClr val="FF0000"/>
                </a:solidFill>
              </a:rPr>
              <a:t>How </a:t>
            </a:r>
            <a:r>
              <a:rPr lang="en-US" sz="3200" b="1" dirty="0">
                <a:solidFill>
                  <a:srgbClr val="FF0000"/>
                </a:solidFill>
              </a:rPr>
              <a:t>Does a Blockchain Work?</a:t>
            </a:r>
          </a:p>
          <a:p>
            <a:endParaRPr lang="en-US" sz="2400" b="1" dirty="0"/>
          </a:p>
          <a:p>
            <a:pPr marL="342900" indent="-342900">
              <a:buFont typeface="Wingdings" pitchFamily="2" charset="2"/>
              <a:buChar char="q"/>
            </a:pPr>
            <a:r>
              <a:rPr lang="en-US" sz="2000" b="1" dirty="0"/>
              <a:t>A blockchain is distributed, which means multiple copies are saved on many machines, and they must all match for it to be valid</a:t>
            </a:r>
            <a:r>
              <a:rPr lang="en-US" sz="2000" b="1" dirty="0" smtClean="0"/>
              <a:t>.</a:t>
            </a:r>
          </a:p>
          <a:p>
            <a:endParaRPr lang="en-US" sz="2000" b="1" dirty="0"/>
          </a:p>
          <a:p>
            <a:pPr marL="342900" indent="-342900">
              <a:buFont typeface="Wingdings" pitchFamily="2" charset="2"/>
              <a:buChar char="q"/>
            </a:pPr>
            <a:r>
              <a:rPr lang="en-US" sz="2000" b="1" dirty="0"/>
              <a:t>The Bitcoin blockchain collects transaction information and enters it into a 4MB file called a </a:t>
            </a:r>
            <a:r>
              <a:rPr lang="en-US" sz="2000" b="1" dirty="0" smtClean="0"/>
              <a:t>block</a:t>
            </a:r>
            <a:r>
              <a:rPr lang="en-US" sz="2000" b="1" dirty="0"/>
              <a:t> (different blockchains have different size blocks</a:t>
            </a:r>
            <a:r>
              <a:rPr lang="en-US" sz="2000" b="1" dirty="0" smtClean="0"/>
              <a:t>).</a:t>
            </a:r>
          </a:p>
          <a:p>
            <a:endParaRPr lang="en-US" sz="2000" b="1" dirty="0" smtClean="0"/>
          </a:p>
          <a:p>
            <a:pPr marL="342900" indent="-342900">
              <a:buFont typeface="Wingdings" pitchFamily="2" charset="2"/>
              <a:buChar char="q"/>
            </a:pPr>
            <a:r>
              <a:rPr lang="en-US" sz="2000" b="1" dirty="0" smtClean="0"/>
              <a:t> </a:t>
            </a:r>
            <a:r>
              <a:rPr lang="en-US" sz="2000" b="1" dirty="0"/>
              <a:t>Once the block is full, the block data is run through a cryptographic hash function, which creates a hexadecimal number called the block</a:t>
            </a:r>
            <a:r>
              <a:rPr lang="en-US" sz="2000" b="1" u="sng" dirty="0"/>
              <a:t> </a:t>
            </a:r>
            <a:r>
              <a:rPr lang="en-US" sz="2000" b="1" dirty="0"/>
              <a:t>header hash</a:t>
            </a:r>
            <a:r>
              <a:rPr lang="en-US" sz="2000" b="1" dirty="0" smtClean="0"/>
              <a:t>.</a:t>
            </a:r>
          </a:p>
          <a:p>
            <a:endParaRPr lang="en-US" sz="2000" b="1" dirty="0"/>
          </a:p>
          <a:p>
            <a:pPr marL="342900" indent="-342900">
              <a:buFont typeface="Wingdings" pitchFamily="2" charset="2"/>
              <a:buChar char="q"/>
            </a:pPr>
            <a:r>
              <a:rPr lang="en-US" sz="2000" b="1" dirty="0"/>
              <a:t>The hash is then entered into the following block header and encrypted with the other information in that block's header, creating a chain of blocks, hence the name “blockchain.”</a:t>
            </a:r>
          </a:p>
          <a:p>
            <a:pPr marL="342900" indent="-342900">
              <a:buFont typeface="Wingdings" pitchFamily="2" charset="2"/>
              <a:buChar char="q"/>
            </a:pPr>
            <a:endParaRPr lang="en-IN" sz="2000" b="1" dirty="0"/>
          </a:p>
        </p:txBody>
      </p:sp>
    </p:spTree>
    <p:extLst>
      <p:ext uri="{BB962C8B-B14F-4D97-AF65-F5344CB8AC3E}">
        <p14:creationId xmlns:p14="http://schemas.microsoft.com/office/powerpoint/2010/main" val="46259994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8915400" cy="6771084"/>
          </a:xfrm>
          <a:prstGeom prst="rect">
            <a:avLst/>
          </a:prstGeom>
          <a:noFill/>
        </p:spPr>
        <p:txBody>
          <a:bodyPr wrap="square" rtlCol="0">
            <a:spAutoFit/>
          </a:bodyPr>
          <a:lstStyle/>
          <a:p>
            <a:r>
              <a:rPr lang="en-IN" sz="3200" b="1" dirty="0">
                <a:solidFill>
                  <a:srgbClr val="FF0000"/>
                </a:solidFill>
              </a:rPr>
              <a:t>Transaction </a:t>
            </a:r>
            <a:r>
              <a:rPr lang="en-IN" sz="3200" b="1" dirty="0" smtClean="0">
                <a:solidFill>
                  <a:srgbClr val="FF0000"/>
                </a:solidFill>
              </a:rPr>
              <a:t>Process</a:t>
            </a:r>
            <a:endParaRPr lang="en-IN" sz="3200" b="1" dirty="0">
              <a:solidFill>
                <a:srgbClr val="FF0000"/>
              </a:solidFill>
            </a:endParaRPr>
          </a:p>
          <a:p>
            <a:r>
              <a:rPr lang="en-US" b="1" dirty="0" smtClean="0"/>
              <a:t>Miners </a:t>
            </a:r>
            <a:r>
              <a:rPr lang="en-US" b="1" dirty="0"/>
              <a:t>are participants in a blockchain network who use computational power to solve cryptographic puzzles in Proof of Work (</a:t>
            </a:r>
            <a:r>
              <a:rPr lang="en-US" b="1" dirty="0" err="1"/>
              <a:t>PoW</a:t>
            </a:r>
            <a:r>
              <a:rPr lang="en-US" b="1" dirty="0"/>
              <a:t>) systems. They validate transactions, add new blocks to the blockchain, and earn rewards (block rewards + transaction fees</a:t>
            </a:r>
            <a:r>
              <a:rPr lang="en-US" b="1" dirty="0" smtClean="0"/>
              <a:t>).</a:t>
            </a:r>
          </a:p>
          <a:p>
            <a:endParaRPr lang="en-US" b="1" dirty="0"/>
          </a:p>
          <a:p>
            <a:r>
              <a:rPr lang="en-US" b="1" dirty="0"/>
              <a:t>In Proof of Work (</a:t>
            </a:r>
            <a:r>
              <a:rPr lang="en-US" b="1" dirty="0" err="1"/>
              <a:t>PoW</a:t>
            </a:r>
            <a:r>
              <a:rPr lang="en-US" b="1" dirty="0"/>
              <a:t>), miners compete to find a valid hash that meets the difficulty target by adjusting a variable called the nonce (Number Used Once</a:t>
            </a:r>
            <a:r>
              <a:rPr lang="en-US" b="1" dirty="0" smtClean="0"/>
              <a:t>).</a:t>
            </a:r>
          </a:p>
          <a:p>
            <a:endParaRPr lang="en-US" dirty="0"/>
          </a:p>
          <a:p>
            <a:r>
              <a:rPr lang="en-US" sz="2400" b="1" dirty="0"/>
              <a:t>How it works:</a:t>
            </a:r>
          </a:p>
          <a:p>
            <a:pPr marL="285750" indent="-285750">
              <a:buFont typeface="Wingdings" pitchFamily="2" charset="2"/>
              <a:buChar char="q"/>
            </a:pPr>
            <a:r>
              <a:rPr lang="en-US" b="1" dirty="0"/>
              <a:t>Each miner works on their own block, trying different nonce values</a:t>
            </a:r>
            <a:r>
              <a:rPr lang="en-US" b="1" dirty="0" smtClean="0"/>
              <a:t>.</a:t>
            </a:r>
          </a:p>
          <a:p>
            <a:endParaRPr lang="en-US" b="1" dirty="0"/>
          </a:p>
          <a:p>
            <a:pPr marL="285750" indent="-285750">
              <a:buFont typeface="Wingdings" pitchFamily="2" charset="2"/>
              <a:buChar char="q"/>
            </a:pPr>
            <a:r>
              <a:rPr lang="en-US" b="1" dirty="0"/>
              <a:t>The miner repeatedly hashes the block data (including the nonce) until the result meets the required difficulty target (i.e., a hash with a certain number of leading zeros</a:t>
            </a:r>
            <a:r>
              <a:rPr lang="en-US" b="1" dirty="0" smtClean="0"/>
              <a:t>).</a:t>
            </a:r>
          </a:p>
          <a:p>
            <a:endParaRPr lang="en-US" b="1" dirty="0"/>
          </a:p>
          <a:p>
            <a:pPr marL="285750" indent="-285750">
              <a:buFont typeface="Wingdings" pitchFamily="2" charset="2"/>
              <a:buChar char="q"/>
            </a:pPr>
            <a:r>
              <a:rPr lang="en-US" b="1" dirty="0"/>
              <a:t>Once a valid hash is found, the miner broadcasts the block to the network</a:t>
            </a:r>
            <a:r>
              <a:rPr lang="en-US" b="1" dirty="0" smtClean="0"/>
              <a:t>.</a:t>
            </a:r>
          </a:p>
          <a:p>
            <a:endParaRPr lang="en-US" b="1" dirty="0"/>
          </a:p>
          <a:p>
            <a:pPr marL="285750" indent="-285750">
              <a:buFont typeface="Wingdings" pitchFamily="2" charset="2"/>
              <a:buChar char="q"/>
            </a:pPr>
            <a:r>
              <a:rPr lang="en-US" b="1" dirty="0"/>
              <a:t>Other nodes verify the solution, and if valid, the block is added to the blockchain</a:t>
            </a:r>
            <a:r>
              <a:rPr lang="en-US" b="1" dirty="0" smtClean="0"/>
              <a:t>.</a:t>
            </a:r>
          </a:p>
          <a:p>
            <a:endParaRPr lang="en-US" b="1" dirty="0"/>
          </a:p>
          <a:p>
            <a:pPr marL="285750" indent="-285750">
              <a:buFont typeface="Wingdings" pitchFamily="2" charset="2"/>
              <a:buChar char="q"/>
            </a:pPr>
            <a:r>
              <a:rPr lang="en-US" b="1" dirty="0"/>
              <a:t>The successful miner earns a block reward and transaction fees</a:t>
            </a:r>
            <a:r>
              <a:rPr lang="en-US" b="1" dirty="0" smtClean="0"/>
              <a:t>.</a:t>
            </a:r>
          </a:p>
          <a:p>
            <a:endParaRPr lang="en-US" dirty="0"/>
          </a:p>
        </p:txBody>
      </p:sp>
    </p:spTree>
    <p:extLst>
      <p:ext uri="{BB962C8B-B14F-4D97-AF65-F5344CB8AC3E}">
        <p14:creationId xmlns:p14="http://schemas.microsoft.com/office/powerpoint/2010/main" val="215841315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2400" y="76200"/>
            <a:ext cx="8763000" cy="5909310"/>
          </a:xfrm>
          <a:prstGeom prst="rect">
            <a:avLst/>
          </a:prstGeom>
          <a:noFill/>
        </p:spPr>
        <p:txBody>
          <a:bodyPr wrap="square" rtlCol="0">
            <a:spAutoFit/>
          </a:bodyPr>
          <a:lstStyle/>
          <a:p>
            <a:r>
              <a:rPr lang="en-IN" sz="3600" b="1" dirty="0">
                <a:solidFill>
                  <a:srgbClr val="FF0000"/>
                </a:solidFill>
              </a:rPr>
              <a:t>Transaction Process</a:t>
            </a:r>
          </a:p>
          <a:p>
            <a:r>
              <a:rPr lang="en-US" sz="2000" b="1" dirty="0" smtClean="0"/>
              <a:t>The </a:t>
            </a:r>
            <a:r>
              <a:rPr lang="en-US" sz="2000" b="1" dirty="0"/>
              <a:t>difficulty target in blockchain (especially in Proof of Work) is a predefined value that determines how hard it is to find a valid block hash. It ensures that new blocks are added at a consistent rate</a:t>
            </a:r>
            <a:r>
              <a:rPr lang="en-US" sz="2000" b="1" dirty="0" smtClean="0"/>
              <a:t>.</a:t>
            </a:r>
          </a:p>
          <a:p>
            <a:endParaRPr lang="en-US" dirty="0"/>
          </a:p>
          <a:p>
            <a:r>
              <a:rPr lang="en-US" sz="2400" b="1" dirty="0"/>
              <a:t>How it Works:</a:t>
            </a:r>
          </a:p>
          <a:p>
            <a:pPr marL="285750" indent="-285750">
              <a:buFont typeface="Wingdings" pitchFamily="2" charset="2"/>
              <a:buChar char="q"/>
            </a:pPr>
            <a:r>
              <a:rPr lang="en-US" sz="2000" b="1" dirty="0"/>
              <a:t>Miners must find a hash value lower than or equal to the difficulty target</a:t>
            </a:r>
            <a:r>
              <a:rPr lang="en-US" sz="2000" b="1" dirty="0" smtClean="0"/>
              <a:t>.</a:t>
            </a:r>
          </a:p>
          <a:p>
            <a:endParaRPr lang="en-US" sz="2000" b="1" dirty="0"/>
          </a:p>
          <a:p>
            <a:pPr marL="285750" indent="-285750">
              <a:buFont typeface="Wingdings" pitchFamily="2" charset="2"/>
              <a:buChar char="q"/>
            </a:pPr>
            <a:r>
              <a:rPr lang="en-US" sz="2000" b="1" dirty="0"/>
              <a:t>The difficulty adjusts periodically (e.g., every 2016 blocks in Bitcoin) based on network conditions to maintain a steady block time (e.g., 10 minutes for Bitcoin</a:t>
            </a:r>
            <a:r>
              <a:rPr lang="en-US" sz="2000" b="1" dirty="0" smtClean="0"/>
              <a:t>).</a:t>
            </a:r>
          </a:p>
          <a:p>
            <a:endParaRPr lang="en-US" sz="2000" b="1" dirty="0"/>
          </a:p>
          <a:p>
            <a:pPr marL="285750" indent="-285750">
              <a:buFont typeface="Wingdings" pitchFamily="2" charset="2"/>
              <a:buChar char="q"/>
            </a:pPr>
            <a:r>
              <a:rPr lang="en-US" sz="2000" b="1" dirty="0"/>
              <a:t>Higher difficulty means more computational power is required to mine a block</a:t>
            </a:r>
            <a:r>
              <a:rPr lang="en-US" sz="2000" b="1" dirty="0" smtClean="0"/>
              <a:t>.</a:t>
            </a:r>
          </a:p>
          <a:p>
            <a:endParaRPr lang="en-US" sz="2000" b="1" dirty="0"/>
          </a:p>
          <a:p>
            <a:pPr marL="285750" indent="-285750">
              <a:buFont typeface="Wingdings" pitchFamily="2" charset="2"/>
              <a:buChar char="q"/>
            </a:pPr>
            <a:r>
              <a:rPr lang="en-US" sz="2000" b="1" dirty="0"/>
              <a:t>This mechanism prevents blocks from being mined too quickly and maintains network stability.</a:t>
            </a:r>
          </a:p>
        </p:txBody>
      </p:sp>
    </p:spTree>
    <p:extLst>
      <p:ext uri="{BB962C8B-B14F-4D97-AF65-F5344CB8AC3E}">
        <p14:creationId xmlns:p14="http://schemas.microsoft.com/office/powerpoint/2010/main" val="393652090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9067800" cy="6432530"/>
          </a:xfrm>
          <a:prstGeom prst="rect">
            <a:avLst/>
          </a:prstGeom>
          <a:noFill/>
        </p:spPr>
        <p:txBody>
          <a:bodyPr wrap="square" rtlCol="0">
            <a:spAutoFit/>
          </a:bodyPr>
          <a:lstStyle/>
          <a:p>
            <a:r>
              <a:rPr lang="en-IN" sz="2800" b="1" dirty="0">
                <a:solidFill>
                  <a:srgbClr val="FF0000"/>
                </a:solidFill>
              </a:rPr>
              <a:t>Applications of </a:t>
            </a:r>
            <a:r>
              <a:rPr lang="en-IN" sz="2800" b="1" dirty="0" smtClean="0">
                <a:solidFill>
                  <a:srgbClr val="FF0000"/>
                </a:solidFill>
              </a:rPr>
              <a:t>Blockchain</a:t>
            </a:r>
            <a:endParaRPr lang="en-IN" sz="3200" b="1" dirty="0"/>
          </a:p>
          <a:p>
            <a:pPr marL="285750" indent="-285750">
              <a:buFont typeface="Wingdings" pitchFamily="2" charset="2"/>
              <a:buChar char="q"/>
            </a:pPr>
            <a:r>
              <a:rPr lang="en-IN" sz="2400" b="1" dirty="0" smtClean="0"/>
              <a:t>Cryptocurrency</a:t>
            </a:r>
            <a:r>
              <a:rPr lang="en-IN" sz="2400" dirty="0" smtClean="0"/>
              <a:t> </a:t>
            </a:r>
            <a:r>
              <a:rPr lang="en-IN" sz="2400" dirty="0"/>
              <a:t>– Powers digital currencies like </a:t>
            </a:r>
            <a:r>
              <a:rPr lang="en-IN" sz="2400" b="1" dirty="0"/>
              <a:t>Bitcoin</a:t>
            </a:r>
            <a:r>
              <a:rPr lang="en-IN" sz="2400" dirty="0"/>
              <a:t> and </a:t>
            </a:r>
            <a:r>
              <a:rPr lang="en-IN" sz="2400" b="1" dirty="0"/>
              <a:t>Ethereum</a:t>
            </a:r>
            <a:r>
              <a:rPr lang="en-IN" sz="2400" dirty="0"/>
              <a:t> for secure transactions.</a:t>
            </a:r>
          </a:p>
          <a:p>
            <a:pPr marL="285750" indent="-285750">
              <a:buFont typeface="Wingdings" pitchFamily="2" charset="2"/>
              <a:buChar char="q"/>
            </a:pPr>
            <a:r>
              <a:rPr lang="en-IN" sz="2400" b="1" dirty="0"/>
              <a:t>Smart Contracts</a:t>
            </a:r>
            <a:r>
              <a:rPr lang="en-IN" sz="2400" dirty="0"/>
              <a:t> – Self-executing contracts on platforms like </a:t>
            </a:r>
            <a:r>
              <a:rPr lang="en-IN" sz="2400" b="1" dirty="0"/>
              <a:t>Ethereum</a:t>
            </a:r>
            <a:r>
              <a:rPr lang="en-IN" sz="2400" dirty="0"/>
              <a:t> automate agreements.</a:t>
            </a:r>
          </a:p>
          <a:p>
            <a:pPr marL="285750" indent="-285750">
              <a:buFont typeface="Wingdings" pitchFamily="2" charset="2"/>
              <a:buChar char="q"/>
            </a:pPr>
            <a:r>
              <a:rPr lang="en-IN" sz="2400" b="1" dirty="0"/>
              <a:t>Supply Chain Management</a:t>
            </a:r>
            <a:r>
              <a:rPr lang="en-IN" sz="2400" dirty="0"/>
              <a:t> – Ensures transparency and tracking in logistics (e.g., Walmart, IBM Food Trust).</a:t>
            </a:r>
          </a:p>
          <a:p>
            <a:pPr marL="285750" indent="-285750">
              <a:buFont typeface="Wingdings" pitchFamily="2" charset="2"/>
              <a:buChar char="q"/>
            </a:pPr>
            <a:r>
              <a:rPr lang="en-IN" sz="2400" b="1" dirty="0"/>
              <a:t>Healthcare</a:t>
            </a:r>
            <a:r>
              <a:rPr lang="en-IN" sz="2400" dirty="0"/>
              <a:t> – Secures patient records, ensuring data integrity and privacy.</a:t>
            </a:r>
          </a:p>
          <a:p>
            <a:pPr marL="285750" indent="-285750">
              <a:buFont typeface="Wingdings" pitchFamily="2" charset="2"/>
              <a:buChar char="q"/>
            </a:pPr>
            <a:r>
              <a:rPr lang="en-IN" sz="2400" b="1" dirty="0"/>
              <a:t>Banking &amp; Finance</a:t>
            </a:r>
            <a:r>
              <a:rPr lang="en-IN" sz="2400" dirty="0"/>
              <a:t> – Enables </a:t>
            </a:r>
            <a:r>
              <a:rPr lang="en-IN" sz="2400" b="1" dirty="0"/>
              <a:t>fast, secure cross-border payments</a:t>
            </a:r>
            <a:r>
              <a:rPr lang="en-IN" sz="2400" dirty="0"/>
              <a:t> (e.g., Ripple, DeFi).</a:t>
            </a:r>
          </a:p>
          <a:p>
            <a:pPr marL="285750" indent="-285750">
              <a:buFont typeface="Wingdings" pitchFamily="2" charset="2"/>
              <a:buChar char="q"/>
            </a:pPr>
            <a:r>
              <a:rPr lang="en-IN" sz="2400" b="1" dirty="0"/>
              <a:t>Voting Systems</a:t>
            </a:r>
            <a:r>
              <a:rPr lang="en-IN" sz="2400" dirty="0"/>
              <a:t> – Provides </a:t>
            </a:r>
            <a:r>
              <a:rPr lang="en-IN" sz="2400" b="1" dirty="0"/>
              <a:t>tamper-proof digital voting</a:t>
            </a:r>
            <a:r>
              <a:rPr lang="en-IN" sz="2400" dirty="0"/>
              <a:t> for fair elections.</a:t>
            </a:r>
          </a:p>
          <a:p>
            <a:pPr marL="285750" indent="-285750">
              <a:buFont typeface="Wingdings" pitchFamily="2" charset="2"/>
              <a:buChar char="q"/>
            </a:pPr>
            <a:r>
              <a:rPr lang="en-IN" sz="2400" b="1" dirty="0"/>
              <a:t>Real Estate</a:t>
            </a:r>
            <a:r>
              <a:rPr lang="en-IN" sz="2400" dirty="0"/>
              <a:t> – Facilitates </a:t>
            </a:r>
            <a:r>
              <a:rPr lang="en-IN" sz="2400" b="1" dirty="0"/>
              <a:t>secure property transactions</a:t>
            </a:r>
            <a:r>
              <a:rPr lang="en-IN" sz="2400" dirty="0"/>
              <a:t> via blockchain-based ledgers.</a:t>
            </a:r>
          </a:p>
          <a:p>
            <a:pPr marL="285750" indent="-285750">
              <a:buFont typeface="Wingdings" pitchFamily="2" charset="2"/>
              <a:buChar char="q"/>
            </a:pPr>
            <a:r>
              <a:rPr lang="en-IN" sz="2400" b="1" dirty="0"/>
              <a:t>Identity Management</a:t>
            </a:r>
            <a:r>
              <a:rPr lang="en-IN" sz="2400" dirty="0"/>
              <a:t> – Prevents identity fraud with decentralized digital IDs</a:t>
            </a:r>
            <a:r>
              <a:rPr lang="en-IN" sz="2400" dirty="0" smtClean="0"/>
              <a:t>.</a:t>
            </a:r>
            <a:endParaRPr lang="en-IN" sz="2400" dirty="0"/>
          </a:p>
        </p:txBody>
      </p:sp>
    </p:spTree>
    <p:extLst>
      <p:ext uri="{BB962C8B-B14F-4D97-AF65-F5344CB8AC3E}">
        <p14:creationId xmlns:p14="http://schemas.microsoft.com/office/powerpoint/2010/main" val="228716362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3458171426"/>
              </p:ext>
            </p:extLst>
          </p:nvPr>
        </p:nvGraphicFramePr>
        <p:xfrm>
          <a:off x="228600" y="533400"/>
          <a:ext cx="8686800" cy="6019799"/>
        </p:xfrm>
        <a:graphic>
          <a:graphicData uri="http://schemas.openxmlformats.org/drawingml/2006/table">
            <a:tbl>
              <a:tblPr firstRow="1" bandRow="1">
                <a:tableStyleId>{5C22544A-7EE6-4342-B048-85BDC9FD1C3A}</a:tableStyleId>
              </a:tblPr>
              <a:tblGrid>
                <a:gridCol w="4343400"/>
                <a:gridCol w="4343400"/>
              </a:tblGrid>
              <a:tr h="768237">
                <a:tc>
                  <a:txBody>
                    <a:bodyPr/>
                    <a:lstStyle/>
                    <a:p>
                      <a:pPr algn="ctr"/>
                      <a:r>
                        <a:rPr lang="en-IN" sz="3200" b="1" i="0" kern="1200" dirty="0" smtClean="0">
                          <a:solidFill>
                            <a:schemeClr val="accent5">
                              <a:lumMod val="50000"/>
                            </a:schemeClr>
                          </a:solidFill>
                          <a:effectLst/>
                          <a:latin typeface="+mn-lt"/>
                          <a:ea typeface="+mn-ea"/>
                          <a:cs typeface="+mn-cs"/>
                        </a:rPr>
                        <a:t>      Pros</a:t>
                      </a:r>
                      <a:endParaRPr lang="en-IN" sz="3200" b="1" dirty="0">
                        <a:solidFill>
                          <a:schemeClr val="accent5">
                            <a:lumMod val="50000"/>
                          </a:schemeClr>
                        </a:solidFill>
                      </a:endParaRPr>
                    </a:p>
                  </a:txBody>
                  <a:tcPr/>
                </a:tc>
                <a:tc>
                  <a:txBody>
                    <a:bodyPr/>
                    <a:lstStyle/>
                    <a:p>
                      <a:pPr algn="ctr"/>
                      <a:r>
                        <a:rPr lang="en-IN" sz="2800" b="1" i="0" kern="1200" dirty="0" smtClean="0">
                          <a:solidFill>
                            <a:schemeClr val="accent5">
                              <a:lumMod val="50000"/>
                            </a:schemeClr>
                          </a:solidFill>
                          <a:effectLst/>
                          <a:latin typeface="+mn-lt"/>
                          <a:ea typeface="+mn-ea"/>
                          <a:cs typeface="+mn-cs"/>
                        </a:rPr>
                        <a:t>Cons</a:t>
                      </a:r>
                      <a:endParaRPr lang="en-IN" sz="2800" b="1" dirty="0">
                        <a:solidFill>
                          <a:schemeClr val="accent5">
                            <a:lumMod val="50000"/>
                          </a:schemeClr>
                        </a:solidFill>
                      </a:endParaRPr>
                    </a:p>
                  </a:txBody>
                  <a:tcPr/>
                </a:tc>
              </a:tr>
              <a:tr h="138199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b="1" i="0" kern="1200" dirty="0" smtClean="0">
                          <a:solidFill>
                            <a:schemeClr val="dk1"/>
                          </a:solidFill>
                          <a:effectLst/>
                          <a:latin typeface="+mn-lt"/>
                          <a:ea typeface="+mn-ea"/>
                          <a:cs typeface="+mn-cs"/>
                        </a:rPr>
                        <a:t>Improved accuracy by removing human involvement in verification</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b="1" i="0" kern="1200" dirty="0" smtClean="0">
                          <a:solidFill>
                            <a:schemeClr val="dk1"/>
                          </a:solidFill>
                          <a:effectLst/>
                          <a:latin typeface="+mn-lt"/>
                          <a:ea typeface="+mn-ea"/>
                          <a:cs typeface="+mn-cs"/>
                        </a:rPr>
                        <a:t>Significant technology cost associated with some blockchains</a:t>
                      </a:r>
                    </a:p>
                    <a:p>
                      <a:endParaRPr lang="en-IN" sz="2000" b="1" dirty="0"/>
                    </a:p>
                  </a:txBody>
                  <a:tcPr/>
                </a:tc>
              </a:tr>
              <a:tr h="96739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b="1" i="0" kern="1200" dirty="0" smtClean="0">
                          <a:solidFill>
                            <a:schemeClr val="dk1"/>
                          </a:solidFill>
                          <a:effectLst/>
                          <a:latin typeface="+mn-lt"/>
                          <a:ea typeface="+mn-ea"/>
                          <a:cs typeface="+mn-cs"/>
                        </a:rPr>
                        <a:t>Cost reductions by eliminating third-party verification</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b="1" i="0" kern="1200" dirty="0" smtClean="0">
                          <a:solidFill>
                            <a:schemeClr val="dk1"/>
                          </a:solidFill>
                          <a:effectLst/>
                          <a:latin typeface="+mn-lt"/>
                          <a:ea typeface="+mn-ea"/>
                          <a:cs typeface="+mn-cs"/>
                        </a:rPr>
                        <a:t>Low number of transactions per second</a:t>
                      </a:r>
                    </a:p>
                  </a:txBody>
                  <a:tcPr/>
                </a:tc>
              </a:tr>
              <a:tr h="96739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b="1" i="0" kern="1200" dirty="0" smtClean="0">
                          <a:solidFill>
                            <a:schemeClr val="dk1"/>
                          </a:solidFill>
                          <a:effectLst/>
                          <a:latin typeface="+mn-lt"/>
                          <a:ea typeface="+mn-ea"/>
                          <a:cs typeface="+mn-cs"/>
                        </a:rPr>
                        <a:t>Decentralization makes it harder to tamper with</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b="1" i="0" kern="1200" dirty="0" smtClean="0">
                          <a:solidFill>
                            <a:schemeClr val="dk1"/>
                          </a:solidFill>
                          <a:effectLst/>
                          <a:latin typeface="+mn-lt"/>
                          <a:ea typeface="+mn-ea"/>
                          <a:cs typeface="+mn-cs"/>
                        </a:rPr>
                        <a:t>History of use in illicit activities, such as on the dark web</a:t>
                      </a:r>
                    </a:p>
                  </a:txBody>
                  <a:tcPr/>
                </a:tc>
              </a:tr>
              <a:tr h="96739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b="1" i="0" kern="1200" dirty="0" smtClean="0">
                          <a:solidFill>
                            <a:schemeClr val="dk1"/>
                          </a:solidFill>
                          <a:effectLst/>
                          <a:latin typeface="+mn-lt"/>
                          <a:ea typeface="+mn-ea"/>
                          <a:cs typeface="+mn-cs"/>
                        </a:rPr>
                        <a:t>Transactions are secure, private, and efficient</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b="1" i="0" kern="1200" dirty="0" smtClean="0">
                          <a:solidFill>
                            <a:schemeClr val="dk1"/>
                          </a:solidFill>
                          <a:effectLst/>
                          <a:latin typeface="+mn-lt"/>
                          <a:ea typeface="+mn-ea"/>
                          <a:cs typeface="+mn-cs"/>
                        </a:rPr>
                        <a:t>Regulation varies by jurisdiction and remains uncertain</a:t>
                      </a:r>
                    </a:p>
                  </a:txBody>
                  <a:tcPr/>
                </a:tc>
              </a:tr>
              <a:tr h="96739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000" b="1" i="0" kern="1200" dirty="0" smtClean="0">
                          <a:solidFill>
                            <a:schemeClr val="dk1"/>
                          </a:solidFill>
                          <a:effectLst/>
                          <a:latin typeface="+mn-lt"/>
                          <a:ea typeface="+mn-ea"/>
                          <a:cs typeface="+mn-cs"/>
                        </a:rPr>
                        <a:t>Transparent technology</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000" b="1" i="0" kern="1200" dirty="0" smtClean="0">
                          <a:solidFill>
                            <a:schemeClr val="dk1"/>
                          </a:solidFill>
                          <a:effectLst/>
                          <a:latin typeface="+mn-lt"/>
                          <a:ea typeface="+mn-ea"/>
                          <a:cs typeface="+mn-cs"/>
                        </a:rPr>
                        <a:t>Data storage limitations</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2000" b="1" i="0" kern="1200" dirty="0" smtClean="0">
                        <a:solidFill>
                          <a:schemeClr val="dk1"/>
                        </a:solidFill>
                        <a:effectLst/>
                        <a:latin typeface="+mn-lt"/>
                        <a:ea typeface="+mn-ea"/>
                        <a:cs typeface="+mn-cs"/>
                      </a:endParaRPr>
                    </a:p>
                  </a:txBody>
                  <a:tcPr/>
                </a:tc>
              </a:tr>
            </a:tbl>
          </a:graphicData>
        </a:graphic>
      </p:graphicFrame>
    </p:spTree>
    <p:extLst>
      <p:ext uri="{BB962C8B-B14F-4D97-AF65-F5344CB8AC3E}">
        <p14:creationId xmlns:p14="http://schemas.microsoft.com/office/powerpoint/2010/main" val="70289621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pothecary">
  <a:themeElements>
    <a:clrScheme name="Apothecary">
      <a:dk1>
        <a:sysClr val="windowText" lastClr="000000"/>
      </a:dk1>
      <a:lt1>
        <a:sysClr val="window" lastClr="FFFFFF"/>
      </a:lt1>
      <a:dk2>
        <a:srgbClr val="564B3C"/>
      </a:dk2>
      <a:lt2>
        <a:srgbClr val="ECEDD1"/>
      </a:lt2>
      <a:accent1>
        <a:srgbClr val="93A299"/>
      </a:accent1>
      <a:accent2>
        <a:srgbClr val="CF543F"/>
      </a:accent2>
      <a:accent3>
        <a:srgbClr val="B5AE53"/>
      </a:accent3>
      <a:accent4>
        <a:srgbClr val="848058"/>
      </a:accent4>
      <a:accent5>
        <a:srgbClr val="E8B54D"/>
      </a:accent5>
      <a:accent6>
        <a:srgbClr val="786C71"/>
      </a:accent6>
      <a:hlink>
        <a:srgbClr val="CCCC00"/>
      </a:hlink>
      <a:folHlink>
        <a:srgbClr val="B2B2B2"/>
      </a:folHlink>
    </a:clrScheme>
    <a:fontScheme name="Apothecary">
      <a:majorFont>
        <a:latin typeface="Book Antiqua"/>
        <a:ea typeface=""/>
        <a:cs typeface=""/>
        <a:font script="Jpan" typeface="HGS明朝B"/>
        <a:font script="Hang" typeface="HY견명조"/>
        <a:font script="Hans" typeface="宋体"/>
        <a:font script="Hant" typeface="新細明體"/>
        <a:font script="Arab" typeface="Times New Roman"/>
        <a:font script="Hebr" typeface="David"/>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ＭＳ ゴシック"/>
        <a:font script="Hang" typeface="HY견명조"/>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Apothecary">
      <a:fillStyleLst>
        <a:solidFill>
          <a:schemeClr val="phClr"/>
        </a:solidFill>
        <a:gradFill rotWithShape="1">
          <a:gsLst>
            <a:gs pos="0">
              <a:schemeClr val="phClr">
                <a:tint val="1000"/>
                <a:satMod val="100000"/>
              </a:schemeClr>
            </a:gs>
            <a:gs pos="68000">
              <a:schemeClr val="phClr">
                <a:tint val="77000"/>
                <a:satMod val="100000"/>
              </a:schemeClr>
            </a:gs>
            <a:gs pos="81000">
              <a:schemeClr val="phClr">
                <a:tint val="79000"/>
                <a:satMod val="100000"/>
              </a:schemeClr>
            </a:gs>
            <a:gs pos="86000">
              <a:schemeClr val="phClr">
                <a:tint val="73000"/>
                <a:satMod val="100000"/>
              </a:schemeClr>
            </a:gs>
            <a:gs pos="100000">
              <a:schemeClr val="phClr">
                <a:tint val="35000"/>
                <a:satMod val="100000"/>
              </a:schemeClr>
            </a:gs>
          </a:gsLst>
          <a:lin ang="5400000" scaled="0"/>
        </a:gradFill>
        <a:gradFill rotWithShape="1">
          <a:gsLst>
            <a:gs pos="0">
              <a:schemeClr val="phClr">
                <a:tint val="73000"/>
                <a:shade val="100000"/>
                <a:satMod val="150000"/>
              </a:schemeClr>
            </a:gs>
            <a:gs pos="25000">
              <a:schemeClr val="phClr">
                <a:tint val="96000"/>
                <a:shade val="80000"/>
                <a:satMod val="105000"/>
              </a:schemeClr>
            </a:gs>
            <a:gs pos="38000">
              <a:schemeClr val="phClr">
                <a:tint val="96000"/>
                <a:shade val="59000"/>
                <a:satMod val="120000"/>
              </a:schemeClr>
            </a:gs>
            <a:gs pos="55000">
              <a:schemeClr val="phClr">
                <a:tint val="100000"/>
                <a:shade val="57000"/>
                <a:satMod val="120000"/>
              </a:schemeClr>
            </a:gs>
            <a:gs pos="80000">
              <a:schemeClr val="phClr">
                <a:tint val="100000"/>
                <a:shade val="56000"/>
                <a:satMod val="145000"/>
              </a:schemeClr>
            </a:gs>
            <a:gs pos="88000">
              <a:schemeClr val="phClr">
                <a:tint val="100000"/>
                <a:shade val="63000"/>
                <a:satMod val="160000"/>
              </a:schemeClr>
            </a:gs>
            <a:gs pos="100000">
              <a:schemeClr val="phClr">
                <a:tint val="99000"/>
                <a:shade val="100000"/>
                <a:satMod val="155000"/>
              </a:schemeClr>
            </a:gs>
          </a:gsLst>
          <a:lin ang="54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scene3d>
            <a:camera prst="orthographicFront">
              <a:rot lat="0" lon="0" rev="0"/>
            </a:camera>
            <a:lightRig rig="glow" dir="tl">
              <a:rot lat="0" lon="0" rev="1800000"/>
            </a:lightRig>
          </a:scene3d>
          <a:sp3d contourW="10160" prstMaterial="dkEdge">
            <a:bevelT w="0" h="0" prst="angle"/>
            <a:contourClr>
              <a:schemeClr val="phClr">
                <a:shade val="30000"/>
                <a:satMod val="150000"/>
              </a:schemeClr>
            </a:contourClr>
          </a:sp3d>
        </a:effectStyle>
        <a:effectStyle>
          <a:effectLst>
            <a:glow rad="50800">
              <a:schemeClr val="phClr">
                <a:tint val="68000"/>
                <a:shade val="93000"/>
                <a:alpha val="37000"/>
                <a:satMod val="250000"/>
              </a:schemeClr>
            </a:glow>
          </a:effectLst>
          <a:scene3d>
            <a:camera prst="orthographicFront">
              <a:rot lat="0" lon="0" rev="0"/>
            </a:camera>
            <a:lightRig rig="glow" dir="t">
              <a:rot lat="0" lon="0" rev="1800000"/>
            </a:lightRig>
          </a:scene3d>
          <a:sp3d contourW="10160" prstMaterial="dkEdge">
            <a:bevelT w="20320" h="19050" prst="angle"/>
            <a:contourClr>
              <a:schemeClr val="phClr">
                <a:shade val="30000"/>
                <a:satMod val="150000"/>
              </a:schemeClr>
            </a:contourClr>
          </a:sp3d>
        </a:effectStyle>
      </a:effectStyleLst>
      <a:bgFillStyleLst>
        <a:solidFill>
          <a:schemeClr val="phClr"/>
        </a:solidFill>
        <a:solidFill>
          <a:schemeClr val="phClr">
            <a:tint val="93000"/>
            <a:satMod val="140000"/>
          </a:schemeClr>
        </a:solidFill>
        <a:blipFill rotWithShape="1">
          <a:blip xmlns:r="http://schemas.openxmlformats.org/officeDocument/2006/relationships" r:embed="rId1">
            <a:duotone>
              <a:schemeClr val="phClr">
                <a:tint val="70000"/>
                <a:satMod val="170000"/>
              </a:schemeClr>
              <a:schemeClr val="phClr">
                <a:shade val="70000"/>
                <a:satMod val="130000"/>
              </a:schemeClr>
            </a:duotone>
          </a:blip>
          <a:tile tx="0" ty="0" sx="100000" sy="10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Apothecary</Template>
  <TotalTime>241</TotalTime>
  <Words>862</Words>
  <Application>Microsoft Office PowerPoint</Application>
  <PresentationFormat>On-screen Show (4:3)</PresentationFormat>
  <Paragraphs>86</Paragraphs>
  <Slides>9</Slides>
  <Notes>0</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Apothecary</vt:lpstr>
      <vt:lpstr>Blockchain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 Functions</dc:title>
  <dc:creator>MSBTEGADGENAGAR</dc:creator>
  <cp:lastModifiedBy>MSBTEGADGENAGAR</cp:lastModifiedBy>
  <cp:revision>18</cp:revision>
  <dcterms:created xsi:type="dcterms:W3CDTF">2006-08-16T00:00:00Z</dcterms:created>
  <dcterms:modified xsi:type="dcterms:W3CDTF">2025-03-24T15:50:03Z</dcterms:modified>
</cp:coreProperties>
</file>