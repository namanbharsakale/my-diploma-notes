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310" y="629158"/>
            <a:ext cx="413448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7999"/>
                </a:lnTo>
                <a:lnTo>
                  <a:pt x="2587665" y="6857999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8000"/>
                </a:lnTo>
                <a:lnTo>
                  <a:pt x="1290828" y="6858000"/>
                </a:lnTo>
                <a:lnTo>
                  <a:pt x="129082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7999"/>
                </a:lnTo>
                <a:lnTo>
                  <a:pt x="2587665" y="6857999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8000"/>
                </a:lnTo>
                <a:lnTo>
                  <a:pt x="1290828" y="6858000"/>
                </a:lnTo>
                <a:lnTo>
                  <a:pt x="129082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310" y="629158"/>
            <a:ext cx="459041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310" y="1322578"/>
            <a:ext cx="8441055" cy="4206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1646" y="2326970"/>
            <a:ext cx="5424805" cy="1671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66675">
              <a:lnSpc>
                <a:spcPct val="100000"/>
              </a:lnSpc>
              <a:spcBef>
                <a:spcPts val="100"/>
              </a:spcBef>
            </a:pPr>
            <a:r>
              <a:rPr dirty="0" sz="5400"/>
              <a:t>Features</a:t>
            </a:r>
            <a:r>
              <a:rPr dirty="0" sz="5400" spc="-140"/>
              <a:t> </a:t>
            </a:r>
            <a:r>
              <a:rPr dirty="0" sz="5400"/>
              <a:t>of</a:t>
            </a:r>
            <a:r>
              <a:rPr dirty="0" sz="5400" spc="-155"/>
              <a:t> </a:t>
            </a:r>
            <a:r>
              <a:rPr dirty="0" sz="5400" spc="-10"/>
              <a:t>Linux </a:t>
            </a:r>
            <a:r>
              <a:rPr dirty="0" sz="5400"/>
              <a:t>Operating</a:t>
            </a:r>
            <a:r>
              <a:rPr dirty="0" sz="5400" spc="-245"/>
              <a:t> </a:t>
            </a:r>
            <a:r>
              <a:rPr dirty="0" sz="5400" spc="-10"/>
              <a:t>System</a:t>
            </a:r>
            <a:endParaRPr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Linux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6310" y="2061936"/>
            <a:ext cx="7696834" cy="163004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Linux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popular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version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UNIX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System.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42354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open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source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its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source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code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freely</a:t>
            </a:r>
            <a:r>
              <a:rPr dirty="0" sz="18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available.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free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use.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Linux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was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designed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considering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UNIX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compatibility.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Its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functionality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quite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similar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UNIX.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378" y="151638"/>
            <a:ext cx="524891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Components</a:t>
            </a:r>
            <a:r>
              <a:rPr dirty="0" sz="3200" spc="-40"/>
              <a:t> </a:t>
            </a:r>
            <a:r>
              <a:rPr dirty="0" sz="3200"/>
              <a:t>of</a:t>
            </a:r>
            <a:r>
              <a:rPr dirty="0" sz="3200" spc="-25"/>
              <a:t> </a:t>
            </a:r>
            <a:r>
              <a:rPr dirty="0" sz="3200"/>
              <a:t>Linux</a:t>
            </a:r>
            <a:r>
              <a:rPr dirty="0" sz="3200" spc="-40"/>
              <a:t> </a:t>
            </a:r>
            <a:r>
              <a:rPr dirty="0" sz="3200" spc="-10"/>
              <a:t>System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364337" y="772414"/>
            <a:ext cx="5861685" cy="2621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8255" indent="-342900">
              <a:lnSpc>
                <a:spcPct val="100000"/>
              </a:lnSpc>
              <a:spcBef>
                <a:spcPts val="1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4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Linux</a:t>
            </a:r>
            <a:r>
              <a:rPr dirty="0" sz="1800" spc="170">
                <a:solidFill>
                  <a:srgbClr val="404040"/>
                </a:solidFill>
                <a:latin typeface="Trebuchet MS"/>
                <a:cs typeface="Trebuchet MS"/>
              </a:rPr>
              <a:t> 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800" spc="170">
                <a:solidFill>
                  <a:srgbClr val="404040"/>
                </a:solidFill>
                <a:latin typeface="Trebuchet MS"/>
                <a:cs typeface="Trebuchet MS"/>
              </a:rPr>
              <a:t> 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170">
                <a:solidFill>
                  <a:srgbClr val="404040"/>
                </a:solidFill>
                <a:latin typeface="Trebuchet MS"/>
                <a:cs typeface="Trebuchet MS"/>
              </a:rPr>
              <a:t> 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has</a:t>
            </a:r>
            <a:r>
              <a:rPr dirty="0" sz="1800" spc="170">
                <a:solidFill>
                  <a:srgbClr val="404040"/>
                </a:solidFill>
                <a:latin typeface="Trebuchet MS"/>
                <a:cs typeface="Trebuchet MS"/>
              </a:rPr>
              <a:t> 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primarily</a:t>
            </a:r>
            <a:r>
              <a:rPr dirty="0" sz="1800" spc="175">
                <a:solidFill>
                  <a:srgbClr val="404040"/>
                </a:solidFill>
                <a:latin typeface="Trebuchet MS"/>
                <a:cs typeface="Trebuchet MS"/>
              </a:rPr>
              <a:t>  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three components</a:t>
            </a:r>
            <a:endParaRPr sz="1800">
              <a:latin typeface="Trebuchet MS"/>
              <a:cs typeface="Trebuchet MS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10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3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Kernel</a:t>
            </a:r>
            <a:r>
              <a:rPr dirty="0" sz="1800" spc="25" b="1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dirty="0" sz="1800" spc="3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Kernel</a:t>
            </a:r>
            <a:r>
              <a:rPr dirty="0" sz="1800" spc="3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2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3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core</a:t>
            </a:r>
            <a:r>
              <a:rPr dirty="0" sz="1800" spc="2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part</a:t>
            </a:r>
            <a:r>
              <a:rPr dirty="0" sz="1800" spc="2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2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Linux.</a:t>
            </a:r>
            <a:r>
              <a:rPr dirty="0" sz="1800" spc="3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dirty="0" sz="1800" spc="2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is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responsible</a:t>
            </a:r>
            <a:r>
              <a:rPr dirty="0" sz="1800" spc="20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dirty="0" sz="1800" spc="19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all</a:t>
            </a:r>
            <a:r>
              <a:rPr dirty="0" sz="1800" spc="19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major</a:t>
            </a:r>
            <a:r>
              <a:rPr dirty="0" sz="1800" spc="19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activities</a:t>
            </a:r>
            <a:r>
              <a:rPr dirty="0" sz="1800" spc="20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19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dirty="0" sz="1800" spc="20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operating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system.</a:t>
            </a:r>
            <a:r>
              <a:rPr dirty="0" sz="1800" spc="25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dirty="0" sz="1800" spc="254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consists</a:t>
            </a:r>
            <a:r>
              <a:rPr dirty="0" sz="1800" spc="25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25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various</a:t>
            </a:r>
            <a:r>
              <a:rPr dirty="0" sz="1800" spc="254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modules</a:t>
            </a:r>
            <a:r>
              <a:rPr dirty="0" sz="1800" spc="24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26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it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interacts</a:t>
            </a:r>
            <a:r>
              <a:rPr dirty="0" sz="1800" spc="12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directly</a:t>
            </a:r>
            <a:r>
              <a:rPr dirty="0" sz="1800" spc="114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dirty="0" sz="1800" spc="12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114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underlying</a:t>
            </a:r>
            <a:r>
              <a:rPr dirty="0" sz="1800" spc="114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hardware.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Kernel</a:t>
            </a:r>
            <a:r>
              <a:rPr dirty="0" sz="1800" spc="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dirty="0" sz="1800" spc="7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required</a:t>
            </a:r>
            <a:r>
              <a:rPr dirty="0" sz="1800" spc="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abstraction</a:t>
            </a:r>
            <a:r>
              <a:rPr dirty="0" sz="1800" spc="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hide</a:t>
            </a:r>
            <a:r>
              <a:rPr dirty="0" sz="1800" spc="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low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level</a:t>
            </a:r>
            <a:r>
              <a:rPr dirty="0" sz="1800" spc="14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hardware</a:t>
            </a:r>
            <a:r>
              <a:rPr dirty="0" sz="1800" spc="15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details</a:t>
            </a:r>
            <a:r>
              <a:rPr dirty="0" sz="1800" spc="14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14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14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dirty="0" sz="1800" spc="14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application programs.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70430" y="3494913"/>
            <a:ext cx="4555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3615" algn="l"/>
                <a:tab pos="1311275" algn="l"/>
                <a:tab pos="2240915" algn="l"/>
                <a:tab pos="3289300" algn="l"/>
                <a:tab pos="3830320" algn="l"/>
              </a:tabLst>
            </a:pPr>
            <a:r>
              <a:rPr dirty="0" sz="1800" spc="-10" b="1">
                <a:solidFill>
                  <a:srgbClr val="404040"/>
                </a:solidFill>
                <a:latin typeface="Trebuchet MS"/>
                <a:cs typeface="Trebuchet MS"/>
              </a:rPr>
              <a:t>Library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libraries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special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74647" y="3769232"/>
            <a:ext cx="434911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0215" algn="l"/>
                <a:tab pos="1620520" algn="l"/>
                <a:tab pos="2368550" algn="l"/>
                <a:tab pos="3192145" algn="l"/>
              </a:tabLst>
            </a:pP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programs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using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which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application</a:t>
            </a:r>
            <a:endParaRPr sz="1800">
              <a:latin typeface="Trebuchet MS"/>
              <a:cs typeface="Trebuchet MS"/>
            </a:endParaRPr>
          </a:p>
          <a:p>
            <a:pPr marL="27305">
              <a:lnSpc>
                <a:spcPct val="100000"/>
              </a:lnSpc>
              <a:tabLst>
                <a:tab pos="475615" algn="l"/>
                <a:tab pos="1417955" algn="l"/>
              </a:tabLst>
            </a:pP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utilities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302633" y="4043248"/>
            <a:ext cx="19208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2045" algn="l"/>
              </a:tabLst>
            </a:pP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accesses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Kernel's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64337" y="3494913"/>
            <a:ext cx="131318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54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 spc="-10" b="1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endParaRPr sz="1800">
              <a:latin typeface="Trebuchet MS"/>
              <a:cs typeface="Trebuchet MS"/>
            </a:endParaRPr>
          </a:p>
          <a:p>
            <a:pPr algn="just" marL="355600" marR="5080">
              <a:lnSpc>
                <a:spcPct val="100000"/>
              </a:lnSpc>
            </a:pP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functions programs features.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804542" y="4318254"/>
            <a:ext cx="4420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5970" algn="l"/>
                <a:tab pos="1776095" algn="l"/>
                <a:tab pos="3042920" algn="l"/>
                <a:tab pos="3699510" algn="l"/>
                <a:tab pos="4066540" algn="l"/>
              </a:tabLst>
            </a:pP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These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libraries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implement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most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4337" y="4592573"/>
            <a:ext cx="5859780" cy="1250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functionalities</a:t>
            </a:r>
            <a:r>
              <a:rPr dirty="0" sz="1800" spc="3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3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3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800" spc="3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3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3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dirty="0" sz="1800" spc="3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not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requires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kernel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module's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code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access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rights.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  <a:tab pos="1330325" algn="l"/>
                <a:tab pos="2212975" algn="l"/>
                <a:tab pos="2553335" algn="l"/>
                <a:tab pos="3491865" algn="l"/>
                <a:tab pos="4348480" algn="l"/>
                <a:tab pos="5513070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 b="1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 b="1">
                <a:solidFill>
                  <a:srgbClr val="404040"/>
                </a:solidFill>
                <a:latin typeface="Trebuchet MS"/>
                <a:cs typeface="Trebuchet MS"/>
              </a:rPr>
              <a:t>Utility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Utility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programs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responsible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specialized,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individual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level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tasks.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0132" y="1316736"/>
            <a:ext cx="3572256" cy="37886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5551" y="214960"/>
            <a:ext cx="5354955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Kernel</a:t>
            </a:r>
            <a:r>
              <a:rPr dirty="0" spc="-110"/>
              <a:t> </a:t>
            </a:r>
            <a:r>
              <a:rPr dirty="0"/>
              <a:t>Mode</a:t>
            </a:r>
            <a:r>
              <a:rPr dirty="0" spc="-60"/>
              <a:t> </a:t>
            </a:r>
            <a:r>
              <a:rPr dirty="0"/>
              <a:t>vs</a:t>
            </a:r>
            <a:r>
              <a:rPr dirty="0" spc="-70"/>
              <a:t> </a:t>
            </a:r>
            <a:r>
              <a:rPr dirty="0"/>
              <a:t>User</a:t>
            </a:r>
            <a:r>
              <a:rPr dirty="0" spc="-60"/>
              <a:t> </a:t>
            </a:r>
            <a:r>
              <a:rPr dirty="0" spc="-20"/>
              <a:t>Mode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4364" y="739759"/>
            <a:ext cx="8442325" cy="495998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2000" b="1">
                <a:solidFill>
                  <a:srgbClr val="404040"/>
                </a:solidFill>
                <a:latin typeface="Trebuchet MS"/>
                <a:cs typeface="Trebuchet MS"/>
              </a:rPr>
              <a:t>Kernel</a:t>
            </a:r>
            <a:r>
              <a:rPr dirty="0" sz="2000" spc="-3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2000" spc="-20" b="1">
                <a:solidFill>
                  <a:srgbClr val="404040"/>
                </a:solidFill>
                <a:latin typeface="Trebuchet MS"/>
                <a:cs typeface="Trebuchet MS"/>
              </a:rPr>
              <a:t>Mode</a:t>
            </a:r>
            <a:endParaRPr sz="2000">
              <a:latin typeface="Trebuchet MS"/>
              <a:cs typeface="Trebuchet MS"/>
            </a:endParaRPr>
          </a:p>
          <a:p>
            <a:pPr marL="355600" marR="6350" indent="-3429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Kernel</a:t>
            </a:r>
            <a:r>
              <a:rPr dirty="0" sz="1800" spc="1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component</a:t>
            </a:r>
            <a:r>
              <a:rPr dirty="0" sz="1800" spc="1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code</a:t>
            </a:r>
            <a:r>
              <a:rPr dirty="0" sz="1800" spc="1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executes</a:t>
            </a:r>
            <a:r>
              <a:rPr dirty="0" sz="1800" spc="1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dirty="0" sz="1800" spc="1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1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special</a:t>
            </a:r>
            <a:r>
              <a:rPr dirty="0" sz="1800" spc="1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privileged</a:t>
            </a:r>
            <a:r>
              <a:rPr dirty="0" sz="1800" spc="1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mode</a:t>
            </a:r>
            <a:r>
              <a:rPr dirty="0" sz="1800" spc="17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called</a:t>
            </a:r>
            <a:r>
              <a:rPr dirty="0" sz="1800" spc="1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404040"/>
                </a:solidFill>
                <a:latin typeface="Trebuchet MS"/>
                <a:cs typeface="Trebuchet MS"/>
              </a:rPr>
              <a:t>kernel 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mode</a:t>
            </a:r>
            <a:r>
              <a:rPr dirty="0" sz="1800" spc="-3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full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access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all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resources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computer.</a:t>
            </a:r>
            <a:endParaRPr sz="18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code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represents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single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process,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executes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dirty="0" sz="18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single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address</a:t>
            </a:r>
            <a:r>
              <a:rPr dirty="0" sz="18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space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do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require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any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context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switch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hence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very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efficient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fast.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  <a:tab pos="1177290" algn="l"/>
                <a:tab pos="1776095" algn="l"/>
                <a:tab pos="2425065" algn="l"/>
                <a:tab pos="3569970" algn="l"/>
                <a:tab pos="4109720" algn="l"/>
                <a:tab pos="5136515" algn="l"/>
                <a:tab pos="6005830" algn="l"/>
                <a:tab pos="6986905" algn="l"/>
                <a:tab pos="73653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Kernel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runs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each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processes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services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processes,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protected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access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hardware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processes.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180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</a:pPr>
            <a:r>
              <a:rPr dirty="0" sz="2000" b="1">
                <a:solidFill>
                  <a:srgbClr val="404040"/>
                </a:solidFill>
                <a:latin typeface="Trebuchet MS"/>
                <a:cs typeface="Trebuchet MS"/>
              </a:rPr>
              <a:t>User</a:t>
            </a:r>
            <a:r>
              <a:rPr dirty="0" sz="2000" spc="-3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2000" spc="-20" b="1">
                <a:solidFill>
                  <a:srgbClr val="404040"/>
                </a:solidFill>
                <a:latin typeface="Trebuchet MS"/>
                <a:cs typeface="Trebuchet MS"/>
              </a:rPr>
              <a:t>Mode</a:t>
            </a:r>
            <a:endParaRPr sz="2000">
              <a:latin typeface="Trebuchet MS"/>
              <a:cs typeface="Trebuchet MS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1015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9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Support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code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which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r>
              <a:rPr dirty="0" sz="1800" spc="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required</a:t>
            </a:r>
            <a:r>
              <a:rPr dirty="0" sz="1800" spc="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run</a:t>
            </a:r>
            <a:r>
              <a:rPr dirty="0" sz="1800" spc="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kernel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mode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Library.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User</a:t>
            </a:r>
            <a:r>
              <a:rPr dirty="0" sz="1800" spc="1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programs</a:t>
            </a:r>
            <a:r>
              <a:rPr dirty="0" sz="1800" spc="1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1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other</a:t>
            </a:r>
            <a:r>
              <a:rPr dirty="0" sz="1800" spc="1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1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programs</a:t>
            </a:r>
            <a:r>
              <a:rPr dirty="0" sz="1800" spc="1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works</a:t>
            </a:r>
            <a:r>
              <a:rPr dirty="0" sz="1800" spc="1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dirty="0" sz="1800" spc="1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User</a:t>
            </a:r>
            <a:r>
              <a:rPr dirty="0" sz="1800" spc="14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Mode</a:t>
            </a:r>
            <a:r>
              <a:rPr dirty="0" sz="1800" spc="14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which</a:t>
            </a:r>
            <a:r>
              <a:rPr dirty="0" sz="1800" spc="1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has</a:t>
            </a:r>
            <a:r>
              <a:rPr dirty="0" sz="1800" spc="1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no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access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hardware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kernel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code.</a:t>
            </a:r>
            <a:endParaRPr sz="1800">
              <a:latin typeface="Trebuchet MS"/>
              <a:cs typeface="Trebuchet MS"/>
            </a:endParaRPr>
          </a:p>
          <a:p>
            <a:pPr algn="just" marL="355600" marR="7620" indent="-342900">
              <a:lnSpc>
                <a:spcPct val="100000"/>
              </a:lnSpc>
              <a:spcBef>
                <a:spcPts val="10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1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User</a:t>
            </a:r>
            <a:r>
              <a:rPr dirty="0" sz="1800" spc="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programs/</a:t>
            </a:r>
            <a:r>
              <a:rPr dirty="0" sz="1800" spc="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utilities</a:t>
            </a:r>
            <a:r>
              <a:rPr dirty="0" sz="1800" spc="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</a:t>
            </a:r>
            <a:r>
              <a:rPr dirty="0" sz="1800" spc="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libraries</a:t>
            </a:r>
            <a:r>
              <a:rPr dirty="0" sz="1800" spc="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access</a:t>
            </a:r>
            <a:r>
              <a:rPr dirty="0" sz="1800" spc="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Kernel</a:t>
            </a:r>
            <a:r>
              <a:rPr dirty="0" sz="1800" spc="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functions</a:t>
            </a:r>
            <a:r>
              <a:rPr dirty="0" sz="1800" spc="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get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system's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low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level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tasks.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146430"/>
            <a:ext cx="47586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dirty="0" spc="-50"/>
              <a:t> </a:t>
            </a:r>
            <a:r>
              <a:rPr dirty="0"/>
              <a:t>Features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 spc="-10"/>
              <a:t>Linux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5764" y="688086"/>
            <a:ext cx="8442325" cy="5979795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95"/>
              </a:spcBef>
            </a:pP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Following</a:t>
            </a:r>
            <a:r>
              <a:rPr dirty="0" sz="1800" spc="-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some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important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features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Linux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System.</a:t>
            </a:r>
            <a:endParaRPr sz="1800">
              <a:latin typeface="Trebuchet MS"/>
              <a:cs typeface="Trebuchet MS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Portable</a:t>
            </a:r>
            <a:r>
              <a:rPr dirty="0" sz="1800" spc="50" b="1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dirty="0" sz="1800" spc="5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Portability</a:t>
            </a:r>
            <a:r>
              <a:rPr dirty="0" sz="1800" spc="5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means</a:t>
            </a:r>
            <a:r>
              <a:rPr dirty="0" sz="1800" spc="5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software</a:t>
            </a:r>
            <a:r>
              <a:rPr dirty="0" sz="1800" spc="5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dirty="0" sz="1800" spc="5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works</a:t>
            </a:r>
            <a:r>
              <a:rPr dirty="0" sz="1800" spc="5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dirty="0" sz="1800" spc="4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different</a:t>
            </a:r>
            <a:r>
              <a:rPr dirty="0" sz="1800" spc="5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types</a:t>
            </a:r>
            <a:r>
              <a:rPr dirty="0" sz="1800" spc="5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hardware</a:t>
            </a:r>
            <a:r>
              <a:rPr dirty="0" sz="1800" spc="1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dirty="0" sz="1800" spc="1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same</a:t>
            </a:r>
            <a:r>
              <a:rPr dirty="0" sz="1800" spc="11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way.</a:t>
            </a:r>
            <a:r>
              <a:rPr dirty="0" sz="1800" spc="1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Linux</a:t>
            </a:r>
            <a:r>
              <a:rPr dirty="0" sz="1800" spc="1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kernel</a:t>
            </a:r>
            <a:r>
              <a:rPr dirty="0" sz="1800" spc="10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1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application</a:t>
            </a:r>
            <a:r>
              <a:rPr dirty="0" sz="1800" spc="1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programs</a:t>
            </a:r>
            <a:r>
              <a:rPr dirty="0" sz="1800" spc="1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supports</a:t>
            </a:r>
            <a:r>
              <a:rPr dirty="0" sz="1800" spc="1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their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installation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any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kind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hardware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platform.</a:t>
            </a:r>
            <a:endParaRPr sz="1800">
              <a:latin typeface="Trebuchet MS"/>
              <a:cs typeface="Trebuchet MS"/>
            </a:endParaRPr>
          </a:p>
          <a:p>
            <a:pPr algn="just" marL="355600" marR="7620" indent="-342900">
              <a:lnSpc>
                <a:spcPct val="100000"/>
              </a:lnSpc>
              <a:spcBef>
                <a:spcPts val="10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3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Open</a:t>
            </a:r>
            <a:r>
              <a:rPr dirty="0" sz="1800" spc="38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Source</a:t>
            </a:r>
            <a:r>
              <a:rPr dirty="0" sz="1800" spc="37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dirty="0" sz="1800" spc="3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Linux</a:t>
            </a:r>
            <a:r>
              <a:rPr dirty="0" sz="1800" spc="3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source</a:t>
            </a:r>
            <a:r>
              <a:rPr dirty="0" sz="1800" spc="3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code</a:t>
            </a:r>
            <a:r>
              <a:rPr dirty="0" sz="1800" spc="3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3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freely</a:t>
            </a:r>
            <a:r>
              <a:rPr dirty="0" sz="1800" spc="3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available</a:t>
            </a:r>
            <a:r>
              <a:rPr dirty="0" sz="1800" spc="3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38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dirty="0" sz="1800" spc="3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3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community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based</a:t>
            </a:r>
            <a:r>
              <a:rPr dirty="0" sz="1800" spc="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development</a:t>
            </a:r>
            <a:r>
              <a:rPr dirty="0" sz="1800" spc="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project.</a:t>
            </a:r>
            <a:r>
              <a:rPr dirty="0" sz="1800" spc="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Multiple</a:t>
            </a:r>
            <a:r>
              <a:rPr dirty="0" sz="1800" spc="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teams</a:t>
            </a:r>
            <a:r>
              <a:rPr dirty="0" sz="1800" spc="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work</a:t>
            </a:r>
            <a:r>
              <a:rPr dirty="0" sz="1800" spc="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dirty="0" sz="1800" spc="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collaboration</a:t>
            </a:r>
            <a:r>
              <a:rPr dirty="0" sz="1800" spc="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enhance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capability</a:t>
            </a:r>
            <a:r>
              <a:rPr dirty="0" sz="1800" spc="-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Linux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-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continuously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evolving.</a:t>
            </a:r>
            <a:endParaRPr sz="1800">
              <a:latin typeface="Trebuchet MS"/>
              <a:cs typeface="Trebuchet MS"/>
            </a:endParaRPr>
          </a:p>
          <a:p>
            <a:pPr algn="just" marL="355600" marR="6985" indent="-342900">
              <a:lnSpc>
                <a:spcPct val="100000"/>
              </a:lnSpc>
              <a:spcBef>
                <a:spcPts val="101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3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 spc="-10" b="1">
                <a:solidFill>
                  <a:srgbClr val="404040"/>
                </a:solidFill>
                <a:latin typeface="Trebuchet MS"/>
                <a:cs typeface="Trebuchet MS"/>
              </a:rPr>
              <a:t>Multi-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User</a:t>
            </a:r>
            <a:r>
              <a:rPr dirty="0" sz="1800" spc="36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dirty="0" sz="1800" spc="3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Linux</a:t>
            </a:r>
            <a:r>
              <a:rPr dirty="0" sz="1800" spc="3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3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3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multiuser</a:t>
            </a:r>
            <a:r>
              <a:rPr dirty="0" sz="1800" spc="3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3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means</a:t>
            </a:r>
            <a:r>
              <a:rPr dirty="0" sz="1800" spc="3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multiple</a:t>
            </a:r>
            <a:r>
              <a:rPr dirty="0" sz="1800" spc="3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users</a:t>
            </a:r>
            <a:r>
              <a:rPr dirty="0" sz="1800" spc="3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dirty="0" sz="1800" spc="3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access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resources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like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memory/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ram/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application</a:t>
            </a:r>
            <a:r>
              <a:rPr dirty="0" sz="1800" spc="-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programs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same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time.</a:t>
            </a:r>
            <a:endParaRPr sz="1800">
              <a:latin typeface="Trebuchet MS"/>
              <a:cs typeface="Trebuchet MS"/>
            </a:endParaRPr>
          </a:p>
          <a:p>
            <a:pPr algn="just" marL="355600" marR="5715" indent="-3429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1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Multiprogramming</a:t>
            </a:r>
            <a:r>
              <a:rPr dirty="0" sz="1800" spc="49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dirty="0" sz="1800" spc="4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Linux</a:t>
            </a:r>
            <a:r>
              <a:rPr dirty="0" sz="1800" spc="4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48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4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multiprogramming</a:t>
            </a:r>
            <a:r>
              <a:rPr dirty="0" sz="1800" spc="49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4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means</a:t>
            </a:r>
            <a:r>
              <a:rPr dirty="0" sz="1800" spc="49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multiple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applications</a:t>
            </a:r>
            <a:r>
              <a:rPr dirty="0" sz="1800" spc="-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run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same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time.</a:t>
            </a:r>
            <a:endParaRPr sz="180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Hierarchical</a:t>
            </a:r>
            <a:r>
              <a:rPr dirty="0" sz="1800" spc="15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File</a:t>
            </a:r>
            <a:r>
              <a:rPr dirty="0" sz="1800" spc="13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14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dirty="0" sz="1800" spc="1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Linux</a:t>
            </a:r>
            <a:r>
              <a:rPr dirty="0" sz="1800" spc="1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dirty="0" sz="1800" spc="1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1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standard</a:t>
            </a:r>
            <a:r>
              <a:rPr dirty="0" sz="1800" spc="1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file</a:t>
            </a:r>
            <a:r>
              <a:rPr dirty="0" sz="1800" spc="1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structure</a:t>
            </a:r>
            <a:r>
              <a:rPr dirty="0" sz="1800" spc="1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dirty="0" sz="1800" spc="1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which</a:t>
            </a:r>
            <a:endParaRPr sz="1800">
              <a:latin typeface="Trebuchet MS"/>
              <a:cs typeface="Trebuchet MS"/>
            </a:endParaRPr>
          </a:p>
          <a:p>
            <a:pPr algn="just" marL="3556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files/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user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files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arranged.</a:t>
            </a:r>
            <a:endParaRPr sz="1800">
              <a:latin typeface="Trebuchet MS"/>
              <a:cs typeface="Trebuchet MS"/>
            </a:endParaRPr>
          </a:p>
          <a:p>
            <a:pPr algn="just" marL="355600" marR="5715" indent="-342900">
              <a:lnSpc>
                <a:spcPct val="100000"/>
              </a:lnSpc>
              <a:spcBef>
                <a:spcPts val="1005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Shell</a:t>
            </a:r>
            <a:r>
              <a:rPr dirty="0" sz="1800" spc="28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dirty="0" sz="1800" spc="28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Linux</a:t>
            </a:r>
            <a:r>
              <a:rPr dirty="0" sz="1800" spc="2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dirty="0" sz="1800" spc="28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2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special</a:t>
            </a:r>
            <a:r>
              <a:rPr dirty="0" sz="1800" spc="2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interpreter</a:t>
            </a:r>
            <a:r>
              <a:rPr dirty="0" sz="1800" spc="2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program</a:t>
            </a:r>
            <a:r>
              <a:rPr dirty="0" sz="1800" spc="28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which</a:t>
            </a:r>
            <a:r>
              <a:rPr dirty="0" sz="1800" spc="2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dirty="0" sz="1800" spc="2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dirty="0" sz="1800" spc="2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dirty="0" sz="1800" spc="2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execute</a:t>
            </a:r>
            <a:r>
              <a:rPr dirty="0" sz="1800" spc="3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commands</a:t>
            </a:r>
            <a:r>
              <a:rPr dirty="0" sz="1800" spc="3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3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3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800" spc="3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system.</a:t>
            </a:r>
            <a:r>
              <a:rPr dirty="0" sz="1800" spc="3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dirty="0" sz="1800" spc="3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dirty="0" sz="1800" spc="3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dirty="0" sz="1800" spc="3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dirty="0" sz="1800" spc="3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3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dirty="0" sz="1800" spc="3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various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types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operations,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call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application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programs.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etc.</a:t>
            </a:r>
            <a:endParaRPr sz="180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9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Security</a:t>
            </a:r>
            <a:r>
              <a:rPr dirty="0" sz="1800" spc="434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dirty="0" sz="1800" spc="43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Linux</a:t>
            </a:r>
            <a:r>
              <a:rPr dirty="0" sz="1800" spc="4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dirty="0" sz="1800" spc="43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user</a:t>
            </a:r>
            <a:r>
              <a:rPr dirty="0" sz="1800" spc="43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security</a:t>
            </a:r>
            <a:r>
              <a:rPr dirty="0" sz="1800" spc="43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using</a:t>
            </a:r>
            <a:r>
              <a:rPr dirty="0" sz="1800" spc="4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authentication</a:t>
            </a:r>
            <a:r>
              <a:rPr dirty="0" sz="1800" spc="43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features</a:t>
            </a:r>
            <a:r>
              <a:rPr dirty="0" sz="1800" spc="43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like</a:t>
            </a:r>
            <a:endParaRPr sz="1800">
              <a:latin typeface="Trebuchet MS"/>
              <a:cs typeface="Trebuchet MS"/>
            </a:endParaRPr>
          </a:p>
          <a:p>
            <a:pPr algn="just" marL="3556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password</a:t>
            </a:r>
            <a:r>
              <a:rPr dirty="0" sz="1800" spc="-7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protection/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controlled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access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specific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files/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encryption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data.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937" y="214960"/>
            <a:ext cx="379984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Linux</a:t>
            </a:r>
            <a:r>
              <a:rPr dirty="0" spc="-210"/>
              <a:t> </a:t>
            </a:r>
            <a:r>
              <a:rPr dirty="0" spc="-10"/>
              <a:t>Architecture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33578" y="1148588"/>
            <a:ext cx="5403215" cy="16503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19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architecture</a:t>
            </a:r>
            <a:r>
              <a:rPr dirty="0" sz="1800" spc="19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18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19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Linux</a:t>
            </a:r>
            <a:r>
              <a:rPr dirty="0" sz="1800" spc="19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19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consists</a:t>
            </a:r>
            <a:r>
              <a:rPr dirty="0" sz="1800" spc="19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1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following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layers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endParaRPr sz="1800">
              <a:latin typeface="Trebuchet MS"/>
              <a:cs typeface="Trebuchet MS"/>
            </a:endParaRPr>
          </a:p>
          <a:p>
            <a:pPr marL="355600" marR="5715" indent="-342900">
              <a:lnSpc>
                <a:spcPct val="100000"/>
              </a:lnSpc>
              <a:spcBef>
                <a:spcPts val="994"/>
              </a:spcBef>
              <a:tabLst>
                <a:tab pos="354965" algn="l"/>
                <a:tab pos="1576070" algn="l"/>
                <a:tab pos="2298700" algn="l"/>
                <a:tab pos="2600325" algn="l"/>
                <a:tab pos="3772535" algn="l"/>
                <a:tab pos="4747895" algn="l"/>
                <a:tab pos="5133340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 b="1">
                <a:solidFill>
                  <a:srgbClr val="404040"/>
                </a:solidFill>
                <a:latin typeface="Trebuchet MS"/>
                <a:cs typeface="Trebuchet MS"/>
              </a:rPr>
              <a:t>Hardware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0" b="1">
                <a:solidFill>
                  <a:srgbClr val="404040"/>
                </a:solidFill>
                <a:latin typeface="Trebuchet MS"/>
                <a:cs typeface="Trebuchet MS"/>
              </a:rPr>
              <a:t>layer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Hardware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consists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all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peripheral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devices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(RAM/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HDD/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CPU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etc).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Kernel</a:t>
            </a:r>
            <a:r>
              <a:rPr dirty="0" sz="1800" spc="16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dirty="0" sz="1800" spc="1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dirty="0" sz="1800" spc="1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1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1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core</a:t>
            </a:r>
            <a:r>
              <a:rPr dirty="0" sz="1800" spc="1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component</a:t>
            </a:r>
            <a:r>
              <a:rPr dirty="0" sz="1800" spc="1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1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76478" y="2773426"/>
            <a:ext cx="31464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71880" algn="l"/>
                <a:tab pos="1626870" algn="l"/>
                <a:tab pos="2244090" algn="l"/>
                <a:tab pos="2320290" algn="l"/>
              </a:tabLst>
            </a:pP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System,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5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interacts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directly provides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low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level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services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53688" y="2773426"/>
            <a:ext cx="178371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244" marR="5080" indent="-43180">
              <a:lnSpc>
                <a:spcPct val="100000"/>
              </a:lnSpc>
              <a:spcBef>
                <a:spcPts val="100"/>
              </a:spcBef>
              <a:tabLst>
                <a:tab pos="464820" algn="l"/>
                <a:tab pos="720725" algn="l"/>
                <a:tab pos="1256030" algn="l"/>
              </a:tabLst>
            </a:pP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hardware,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upper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layer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33578" y="3194049"/>
            <a:ext cx="5403215" cy="260286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105"/>
              </a:spcBef>
            </a:pP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components.</a:t>
            </a:r>
            <a:endParaRPr sz="1800">
              <a:latin typeface="Trebuchet MS"/>
              <a:cs typeface="Trebuchet MS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101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9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Shell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dirty="0" sz="1800" spc="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 interface</a:t>
            </a:r>
            <a:r>
              <a:rPr dirty="0" sz="1800" spc="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kernel,</a:t>
            </a:r>
            <a:r>
              <a:rPr dirty="0" sz="1800" spc="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hiding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complexity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10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kernel's</a:t>
            </a:r>
            <a:r>
              <a:rPr dirty="0" sz="1800" spc="1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functions</a:t>
            </a:r>
            <a:r>
              <a:rPr dirty="0" sz="1800" spc="1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from</a:t>
            </a:r>
            <a:r>
              <a:rPr dirty="0" sz="1800" spc="11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users.</a:t>
            </a:r>
            <a:r>
              <a:rPr dirty="0" sz="1800" spc="1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1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shell</a:t>
            </a:r>
            <a:r>
              <a:rPr dirty="0" sz="1800" spc="10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takes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commands</a:t>
            </a:r>
            <a:r>
              <a:rPr dirty="0" sz="1800" spc="2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from</a:t>
            </a:r>
            <a:r>
              <a:rPr dirty="0" sz="1800" spc="2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2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user</a:t>
            </a:r>
            <a:r>
              <a:rPr dirty="0" sz="1800" spc="2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2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executes</a:t>
            </a:r>
            <a:r>
              <a:rPr dirty="0" sz="1800" spc="229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kernel's functions.</a:t>
            </a:r>
            <a:endParaRPr sz="1800">
              <a:latin typeface="Trebuchet MS"/>
              <a:cs typeface="Trebuchet MS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10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 b="1">
                <a:solidFill>
                  <a:srgbClr val="404040"/>
                </a:solidFill>
                <a:latin typeface="Trebuchet MS"/>
                <a:cs typeface="Trebuchet MS"/>
              </a:rPr>
              <a:t>Utilities</a:t>
            </a:r>
            <a:r>
              <a:rPr dirty="0" sz="1800" spc="2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Utility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programs</a:t>
            </a:r>
            <a:r>
              <a:rPr dirty="0" sz="1800" spc="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dirty="0" sz="1800" spc="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provide</a:t>
            </a:r>
            <a:r>
              <a:rPr dirty="0" sz="1800" spc="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user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most</a:t>
            </a:r>
            <a:r>
              <a:rPr dirty="0" sz="1800" spc="15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15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15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functionalities</a:t>
            </a:r>
            <a:r>
              <a:rPr dirty="0" sz="1800" spc="15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15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dirty="0" sz="1800" spc="15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operating systems.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1803" y="1516380"/>
            <a:ext cx="53340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OS</a:t>
            </a:r>
            <a:r>
              <a:rPr dirty="0" spc="-50"/>
              <a:t> </a:t>
            </a:r>
            <a:r>
              <a:rPr dirty="0" spc="-10"/>
              <a:t>services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6310" y="1306016"/>
            <a:ext cx="8013700" cy="465772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dirty="0" sz="17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7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7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dirty="0" sz="17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services</a:t>
            </a:r>
            <a:r>
              <a:rPr dirty="0" sz="17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7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both</a:t>
            </a:r>
            <a:r>
              <a:rPr dirty="0" sz="17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7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users</a:t>
            </a:r>
            <a:r>
              <a:rPr dirty="0" sz="17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7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7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7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Trebuchet MS"/>
                <a:cs typeface="Trebuchet MS"/>
              </a:rPr>
              <a:t>programs.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3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3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dirty="0" sz="17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dirty="0" sz="17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programs</a:t>
            </a:r>
            <a:r>
              <a:rPr dirty="0" sz="17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dirty="0" sz="17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environment</a:t>
            </a:r>
            <a:r>
              <a:rPr dirty="0" sz="17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7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Trebuchet MS"/>
                <a:cs typeface="Trebuchet MS"/>
              </a:rPr>
              <a:t>execute.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dirty="0" sz="135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3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dirty="0" sz="17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dirty="0" sz="17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users</a:t>
            </a:r>
            <a:r>
              <a:rPr dirty="0" sz="17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7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services</a:t>
            </a:r>
            <a:r>
              <a:rPr dirty="0" sz="17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7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execute</a:t>
            </a:r>
            <a:r>
              <a:rPr dirty="0" sz="17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7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programs</a:t>
            </a:r>
            <a:r>
              <a:rPr dirty="0" sz="17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dirty="0" sz="17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7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convenient</a:t>
            </a:r>
            <a:r>
              <a:rPr dirty="0" sz="17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Trebuchet MS"/>
                <a:cs typeface="Trebuchet MS"/>
              </a:rPr>
              <a:t>manner.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Following</a:t>
            </a:r>
            <a:r>
              <a:rPr dirty="0" sz="17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dirty="0" sz="17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7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few</a:t>
            </a:r>
            <a:r>
              <a:rPr dirty="0" sz="17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common</a:t>
            </a:r>
            <a:r>
              <a:rPr dirty="0" sz="17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services</a:t>
            </a:r>
            <a:r>
              <a:rPr dirty="0" sz="17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provided</a:t>
            </a:r>
            <a:r>
              <a:rPr dirty="0" sz="17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dirty="0" sz="17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dirty="0" sz="17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7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7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 spc="-5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3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3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Program</a:t>
            </a:r>
            <a:r>
              <a:rPr dirty="0" sz="1700" spc="-1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Trebuchet MS"/>
                <a:cs typeface="Trebuchet MS"/>
              </a:rPr>
              <a:t>execution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35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3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I/O</a:t>
            </a:r>
            <a:r>
              <a:rPr dirty="0" sz="17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Trebuchet MS"/>
                <a:cs typeface="Trebuchet MS"/>
              </a:rPr>
              <a:t>operations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dirty="0" sz="135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3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File</a:t>
            </a:r>
            <a:r>
              <a:rPr dirty="0" sz="17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7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Trebuchet MS"/>
                <a:cs typeface="Trebuchet MS"/>
              </a:rPr>
              <a:t>manipulation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35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3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700" spc="-10">
                <a:solidFill>
                  <a:srgbClr val="404040"/>
                </a:solidFill>
                <a:latin typeface="Trebuchet MS"/>
                <a:cs typeface="Trebuchet MS"/>
              </a:rPr>
              <a:t>Communication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dirty="0" sz="13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3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700">
                <a:solidFill>
                  <a:srgbClr val="404040"/>
                </a:solidFill>
                <a:latin typeface="Trebuchet MS"/>
                <a:cs typeface="Trebuchet MS"/>
              </a:rPr>
              <a:t>Error</a:t>
            </a:r>
            <a:r>
              <a:rPr dirty="0" sz="17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Trebuchet MS"/>
                <a:cs typeface="Trebuchet MS"/>
              </a:rPr>
              <a:t>Detection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dirty="0" sz="135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3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700" spc="-20">
                <a:solidFill>
                  <a:srgbClr val="404040"/>
                </a:solidFill>
                <a:latin typeface="Trebuchet MS"/>
                <a:cs typeface="Trebuchet MS"/>
              </a:rPr>
              <a:t>Resource</a:t>
            </a:r>
            <a:r>
              <a:rPr dirty="0" sz="17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404040"/>
                </a:solidFill>
                <a:latin typeface="Trebuchet MS"/>
                <a:cs typeface="Trebuchet MS"/>
              </a:rPr>
              <a:t>Allocation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35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3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700" spc="-10">
                <a:solidFill>
                  <a:srgbClr val="404040"/>
                </a:solidFill>
                <a:latin typeface="Trebuchet MS"/>
                <a:cs typeface="Trebuchet MS"/>
              </a:rPr>
              <a:t>Protection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</a:t>
            </a:r>
            <a:r>
              <a:rPr dirty="0" spc="-270"/>
              <a:t> </a:t>
            </a:r>
            <a:r>
              <a:rPr dirty="0" spc="-10"/>
              <a:t>execution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9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/>
              <a:t>Operating</a:t>
            </a:r>
            <a:r>
              <a:rPr dirty="0" spc="420"/>
              <a:t> </a:t>
            </a:r>
            <a:r>
              <a:rPr dirty="0"/>
              <a:t>systems</a:t>
            </a:r>
            <a:r>
              <a:rPr dirty="0" spc="425"/>
              <a:t> </a:t>
            </a:r>
            <a:r>
              <a:rPr dirty="0"/>
              <a:t>handle</a:t>
            </a:r>
            <a:r>
              <a:rPr dirty="0" spc="415"/>
              <a:t> </a:t>
            </a:r>
            <a:r>
              <a:rPr dirty="0"/>
              <a:t>many</a:t>
            </a:r>
            <a:r>
              <a:rPr dirty="0" spc="420"/>
              <a:t> </a:t>
            </a:r>
            <a:r>
              <a:rPr dirty="0"/>
              <a:t>kinds</a:t>
            </a:r>
            <a:r>
              <a:rPr dirty="0" spc="425"/>
              <a:t> </a:t>
            </a:r>
            <a:r>
              <a:rPr dirty="0"/>
              <a:t>of</a:t>
            </a:r>
            <a:r>
              <a:rPr dirty="0" spc="405"/>
              <a:t> </a:t>
            </a:r>
            <a:r>
              <a:rPr dirty="0"/>
              <a:t>activities</a:t>
            </a:r>
            <a:r>
              <a:rPr dirty="0" spc="415"/>
              <a:t> </a:t>
            </a:r>
            <a:r>
              <a:rPr dirty="0"/>
              <a:t>from</a:t>
            </a:r>
            <a:r>
              <a:rPr dirty="0" spc="434"/>
              <a:t> </a:t>
            </a:r>
            <a:r>
              <a:rPr dirty="0"/>
              <a:t>user</a:t>
            </a:r>
            <a:r>
              <a:rPr dirty="0" spc="415"/>
              <a:t> </a:t>
            </a:r>
            <a:r>
              <a:rPr dirty="0"/>
              <a:t>programs</a:t>
            </a:r>
            <a:r>
              <a:rPr dirty="0" spc="420"/>
              <a:t> </a:t>
            </a:r>
            <a:r>
              <a:rPr dirty="0" spc="-25"/>
              <a:t>to </a:t>
            </a:r>
            <a:r>
              <a:rPr dirty="0"/>
              <a:t>system</a:t>
            </a:r>
            <a:r>
              <a:rPr dirty="0" spc="110"/>
              <a:t> </a:t>
            </a:r>
            <a:r>
              <a:rPr dirty="0"/>
              <a:t>programs</a:t>
            </a:r>
            <a:r>
              <a:rPr dirty="0" spc="114"/>
              <a:t> </a:t>
            </a:r>
            <a:r>
              <a:rPr dirty="0"/>
              <a:t>like</a:t>
            </a:r>
            <a:r>
              <a:rPr dirty="0" spc="114"/>
              <a:t> </a:t>
            </a:r>
            <a:r>
              <a:rPr dirty="0"/>
              <a:t>printer</a:t>
            </a:r>
            <a:r>
              <a:rPr dirty="0" spc="105"/>
              <a:t> </a:t>
            </a:r>
            <a:r>
              <a:rPr dirty="0"/>
              <a:t>spooler,</a:t>
            </a:r>
            <a:r>
              <a:rPr dirty="0" spc="110"/>
              <a:t> </a:t>
            </a:r>
            <a:r>
              <a:rPr dirty="0"/>
              <a:t>name</a:t>
            </a:r>
            <a:r>
              <a:rPr dirty="0" spc="140"/>
              <a:t> </a:t>
            </a:r>
            <a:r>
              <a:rPr dirty="0"/>
              <a:t>servers,</a:t>
            </a:r>
            <a:r>
              <a:rPr dirty="0" spc="125"/>
              <a:t> </a:t>
            </a:r>
            <a:r>
              <a:rPr dirty="0"/>
              <a:t>file</a:t>
            </a:r>
            <a:r>
              <a:rPr dirty="0" spc="125"/>
              <a:t> </a:t>
            </a:r>
            <a:r>
              <a:rPr dirty="0"/>
              <a:t>server,</a:t>
            </a:r>
            <a:r>
              <a:rPr dirty="0" spc="120"/>
              <a:t> </a:t>
            </a:r>
            <a:r>
              <a:rPr dirty="0"/>
              <a:t>etc.</a:t>
            </a:r>
            <a:r>
              <a:rPr dirty="0" spc="120"/>
              <a:t> </a:t>
            </a:r>
            <a:r>
              <a:rPr dirty="0"/>
              <a:t>Each</a:t>
            </a:r>
            <a:r>
              <a:rPr dirty="0" spc="125"/>
              <a:t> </a:t>
            </a:r>
            <a:r>
              <a:rPr dirty="0" spc="-25"/>
              <a:t>of </a:t>
            </a:r>
            <a:r>
              <a:rPr dirty="0"/>
              <a:t>these</a:t>
            </a:r>
            <a:r>
              <a:rPr dirty="0" spc="-30"/>
              <a:t> </a:t>
            </a:r>
            <a:r>
              <a:rPr dirty="0"/>
              <a:t>activities</a:t>
            </a:r>
            <a:r>
              <a:rPr dirty="0" spc="-15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encapsulated</a:t>
            </a:r>
            <a:r>
              <a:rPr dirty="0" spc="-40"/>
              <a:t> </a:t>
            </a:r>
            <a:r>
              <a:rPr dirty="0"/>
              <a:t>as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 spc="-10"/>
              <a:t>process.</a:t>
            </a:r>
            <a:endParaRPr sz="1450">
              <a:latin typeface="Lucida Sans Unicode"/>
              <a:cs typeface="Lucida Sans Unicode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1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process</a:t>
            </a:r>
            <a:r>
              <a:rPr dirty="0" spc="65"/>
              <a:t> </a:t>
            </a:r>
            <a:r>
              <a:rPr dirty="0"/>
              <a:t>includes</a:t>
            </a:r>
            <a:r>
              <a:rPr dirty="0" spc="75"/>
              <a:t> </a:t>
            </a:r>
            <a:r>
              <a:rPr dirty="0"/>
              <a:t>the</a:t>
            </a:r>
            <a:r>
              <a:rPr dirty="0" spc="65"/>
              <a:t> </a:t>
            </a:r>
            <a:r>
              <a:rPr dirty="0"/>
              <a:t>complete</a:t>
            </a:r>
            <a:r>
              <a:rPr dirty="0" spc="70"/>
              <a:t> </a:t>
            </a:r>
            <a:r>
              <a:rPr dirty="0"/>
              <a:t>execution</a:t>
            </a:r>
            <a:r>
              <a:rPr dirty="0" spc="85"/>
              <a:t> </a:t>
            </a:r>
            <a:r>
              <a:rPr dirty="0"/>
              <a:t>context</a:t>
            </a:r>
            <a:r>
              <a:rPr dirty="0" spc="60"/>
              <a:t> </a:t>
            </a:r>
            <a:r>
              <a:rPr dirty="0"/>
              <a:t>(code</a:t>
            </a:r>
            <a:r>
              <a:rPr dirty="0" spc="70"/>
              <a:t> </a:t>
            </a:r>
            <a:r>
              <a:rPr dirty="0"/>
              <a:t>to</a:t>
            </a:r>
            <a:r>
              <a:rPr dirty="0" spc="60"/>
              <a:t> </a:t>
            </a:r>
            <a:r>
              <a:rPr dirty="0"/>
              <a:t>execute,</a:t>
            </a:r>
            <a:r>
              <a:rPr dirty="0" spc="75"/>
              <a:t> </a:t>
            </a:r>
            <a:r>
              <a:rPr dirty="0"/>
              <a:t>data</a:t>
            </a:r>
            <a:r>
              <a:rPr dirty="0" spc="70"/>
              <a:t> </a:t>
            </a:r>
            <a:r>
              <a:rPr dirty="0" spc="-25"/>
              <a:t>to </a:t>
            </a:r>
            <a:r>
              <a:rPr dirty="0"/>
              <a:t>manipulate,</a:t>
            </a:r>
            <a:r>
              <a:rPr dirty="0" spc="-15"/>
              <a:t> </a:t>
            </a:r>
            <a:r>
              <a:rPr dirty="0"/>
              <a:t>registers,</a:t>
            </a:r>
            <a:r>
              <a:rPr dirty="0" spc="-10"/>
              <a:t> </a:t>
            </a:r>
            <a:r>
              <a:rPr dirty="0"/>
              <a:t>OS</a:t>
            </a:r>
            <a:r>
              <a:rPr dirty="0" spc="-20"/>
              <a:t> </a:t>
            </a:r>
            <a:r>
              <a:rPr dirty="0"/>
              <a:t>resources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use).</a:t>
            </a:r>
            <a:r>
              <a:rPr dirty="0" spc="-20"/>
              <a:t> </a:t>
            </a:r>
            <a:r>
              <a:rPr dirty="0"/>
              <a:t>Following</a:t>
            </a:r>
            <a:r>
              <a:rPr dirty="0" spc="-20"/>
              <a:t> </a:t>
            </a:r>
            <a:r>
              <a:rPr dirty="0"/>
              <a:t>are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major</a:t>
            </a:r>
            <a:r>
              <a:rPr dirty="0" spc="-25"/>
              <a:t> </a:t>
            </a:r>
            <a:r>
              <a:rPr dirty="0" spc="-10"/>
              <a:t>activities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an</a:t>
            </a:r>
            <a:r>
              <a:rPr dirty="0" spc="-50"/>
              <a:t> </a:t>
            </a:r>
            <a:r>
              <a:rPr dirty="0"/>
              <a:t>operating</a:t>
            </a:r>
            <a:r>
              <a:rPr dirty="0" spc="-40"/>
              <a:t> </a:t>
            </a:r>
            <a:r>
              <a:rPr dirty="0"/>
              <a:t>system</a:t>
            </a:r>
            <a:r>
              <a:rPr dirty="0" spc="-50"/>
              <a:t> </a:t>
            </a:r>
            <a:r>
              <a:rPr dirty="0"/>
              <a:t>with</a:t>
            </a:r>
            <a:r>
              <a:rPr dirty="0" spc="-50"/>
              <a:t> </a:t>
            </a:r>
            <a:r>
              <a:rPr dirty="0"/>
              <a:t>respect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/>
              <a:t>program</a:t>
            </a:r>
            <a:r>
              <a:rPr dirty="0" spc="-35"/>
              <a:t> </a:t>
            </a:r>
            <a:r>
              <a:rPr dirty="0"/>
              <a:t>management</a:t>
            </a:r>
            <a:r>
              <a:rPr dirty="0" spc="-25"/>
              <a:t> </a:t>
            </a:r>
            <a:r>
              <a:rPr dirty="0" spc="-50"/>
              <a:t>−</a:t>
            </a:r>
            <a:endParaRPr sz="145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10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3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/>
              <a:t>Loads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program</a:t>
            </a:r>
            <a:r>
              <a:rPr dirty="0" spc="-15"/>
              <a:t> </a:t>
            </a:r>
            <a:r>
              <a:rPr dirty="0"/>
              <a:t>into</a:t>
            </a:r>
            <a:r>
              <a:rPr dirty="0" spc="-30"/>
              <a:t> </a:t>
            </a:r>
            <a:r>
              <a:rPr dirty="0" spc="-10"/>
              <a:t>memory.</a:t>
            </a:r>
            <a:endParaRPr sz="145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101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9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/>
              <a:t>Executes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10"/>
              <a:t>program.</a:t>
            </a:r>
            <a:endParaRPr sz="145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/>
              <a:t>Handles</a:t>
            </a:r>
            <a:r>
              <a:rPr dirty="0" spc="-30"/>
              <a:t> </a:t>
            </a:r>
            <a:r>
              <a:rPr dirty="0"/>
              <a:t>program's</a:t>
            </a:r>
            <a:r>
              <a:rPr dirty="0" spc="-15"/>
              <a:t> </a:t>
            </a:r>
            <a:r>
              <a:rPr dirty="0" spc="-10"/>
              <a:t>execution.</a:t>
            </a:r>
            <a:endParaRPr sz="145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pc="-10"/>
              <a:t>Provides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mechanism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/>
              <a:t>process</a:t>
            </a:r>
            <a:r>
              <a:rPr dirty="0" spc="-35"/>
              <a:t> </a:t>
            </a:r>
            <a:r>
              <a:rPr dirty="0" spc="-10"/>
              <a:t>synchronization.</a:t>
            </a:r>
            <a:endParaRPr sz="145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101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pc="-10"/>
              <a:t>Provides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mechanism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/>
              <a:t>process</a:t>
            </a:r>
            <a:r>
              <a:rPr dirty="0" spc="-35"/>
              <a:t> </a:t>
            </a:r>
            <a:r>
              <a:rPr dirty="0" spc="-10"/>
              <a:t>communication.</a:t>
            </a:r>
            <a:endParaRPr sz="145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1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pc="-10"/>
              <a:t>Provides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/>
              <a:t>mechanism</a:t>
            </a:r>
            <a:r>
              <a:rPr dirty="0" spc="-25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/>
              <a:t>deadlock</a:t>
            </a:r>
            <a:r>
              <a:rPr dirty="0" spc="-45"/>
              <a:t> </a:t>
            </a:r>
            <a:r>
              <a:rPr dirty="0" spc="-10"/>
              <a:t>handling.</a:t>
            </a:r>
            <a:endParaRPr sz="1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I/O</a:t>
            </a:r>
            <a:r>
              <a:rPr dirty="0" spc="-5"/>
              <a:t> </a:t>
            </a:r>
            <a:r>
              <a:rPr dirty="0" spc="-10"/>
              <a:t>Operation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6310" y="2187955"/>
            <a:ext cx="8442325" cy="2875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7620" indent="-342900">
              <a:lnSpc>
                <a:spcPct val="100000"/>
              </a:lnSpc>
              <a:spcBef>
                <a:spcPts val="1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9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dirty="0" sz="1800" spc="3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I/O</a:t>
            </a:r>
            <a:r>
              <a:rPr dirty="0" sz="1800" spc="3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subsystem</a:t>
            </a:r>
            <a:r>
              <a:rPr dirty="0" sz="1800" spc="3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comprises</a:t>
            </a:r>
            <a:r>
              <a:rPr dirty="0" sz="1800" spc="3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3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I/O</a:t>
            </a:r>
            <a:r>
              <a:rPr dirty="0" sz="1800" spc="3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devices</a:t>
            </a:r>
            <a:r>
              <a:rPr dirty="0" sz="1800" spc="3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3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their</a:t>
            </a:r>
            <a:r>
              <a:rPr dirty="0" sz="1800" spc="3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corresponding</a:t>
            </a:r>
            <a:r>
              <a:rPr dirty="0" sz="1800" spc="3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driver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software.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Drivers</a:t>
            </a:r>
            <a:r>
              <a:rPr dirty="0" sz="1800" spc="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hide</a:t>
            </a:r>
            <a:r>
              <a:rPr dirty="0" sz="1800" spc="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peculiarities</a:t>
            </a:r>
            <a:r>
              <a:rPr dirty="0" sz="1800" spc="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specific</a:t>
            </a:r>
            <a:r>
              <a:rPr dirty="0" sz="1800" spc="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hardware</a:t>
            </a:r>
            <a:r>
              <a:rPr dirty="0" sz="1800" spc="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devices</a:t>
            </a:r>
            <a:r>
              <a:rPr dirty="0" sz="1800" spc="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from</a:t>
            </a:r>
            <a:r>
              <a:rPr dirty="0" sz="1800" spc="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users.</a:t>
            </a:r>
            <a:endParaRPr sz="1800">
              <a:latin typeface="Trebuchet MS"/>
              <a:cs typeface="Trebuchet MS"/>
            </a:endParaRPr>
          </a:p>
          <a:p>
            <a:pPr algn="just" marL="355600" marR="8255" indent="-3429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04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dirty="0" sz="1800" spc="2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800" spc="2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2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manages</a:t>
            </a:r>
            <a:r>
              <a:rPr dirty="0" sz="1800" spc="2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20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communication</a:t>
            </a:r>
            <a:r>
              <a:rPr dirty="0" sz="1800" spc="2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between</a:t>
            </a:r>
            <a:r>
              <a:rPr dirty="0" sz="1800" spc="2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user</a:t>
            </a:r>
            <a:r>
              <a:rPr dirty="0" sz="1800" spc="20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2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device drivers.</a:t>
            </a:r>
            <a:endParaRPr sz="1800">
              <a:latin typeface="Trebuchet MS"/>
              <a:cs typeface="Trebuchet MS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10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I/O</a:t>
            </a:r>
            <a:r>
              <a:rPr dirty="0" sz="1800" spc="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operation</a:t>
            </a:r>
            <a:r>
              <a:rPr dirty="0" sz="1800" spc="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means</a:t>
            </a:r>
            <a:r>
              <a:rPr dirty="0" sz="1800" spc="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read</a:t>
            </a:r>
            <a:r>
              <a:rPr dirty="0" sz="1800" spc="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dirty="0" sz="1800" spc="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write</a:t>
            </a:r>
            <a:r>
              <a:rPr dirty="0" sz="1800" spc="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operation</a:t>
            </a:r>
            <a:r>
              <a:rPr dirty="0" sz="1800" spc="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dirty="0" sz="1800" spc="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any</a:t>
            </a:r>
            <a:r>
              <a:rPr dirty="0" sz="1800" spc="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file</a:t>
            </a:r>
            <a:r>
              <a:rPr dirty="0" sz="1800" spc="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dirty="0" sz="1800" spc="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any</a:t>
            </a:r>
            <a:r>
              <a:rPr dirty="0" sz="1800" spc="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specific</a:t>
            </a:r>
            <a:r>
              <a:rPr dirty="0" sz="1800" spc="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I/O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device.</a:t>
            </a:r>
            <a:endParaRPr sz="1800">
              <a:latin typeface="Trebuchet MS"/>
              <a:cs typeface="Trebuchet MS"/>
            </a:endParaRPr>
          </a:p>
          <a:p>
            <a:pPr algn="just" marL="355600" marR="8255" indent="-342900">
              <a:lnSpc>
                <a:spcPct val="100000"/>
              </a:lnSpc>
              <a:spcBef>
                <a:spcPts val="101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3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800" spc="3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4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dirty="0" sz="1800" spc="3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3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access</a:t>
            </a:r>
            <a:r>
              <a:rPr dirty="0" sz="1800" spc="4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3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3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required</a:t>
            </a:r>
            <a:r>
              <a:rPr dirty="0" sz="1800" spc="4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I/O</a:t>
            </a:r>
            <a:r>
              <a:rPr dirty="0" sz="1800" spc="3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device</a:t>
            </a:r>
            <a:r>
              <a:rPr dirty="0" sz="1800" spc="3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when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required.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313435"/>
            <a:ext cx="51479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File</a:t>
            </a:r>
            <a:r>
              <a:rPr dirty="0" spc="-50"/>
              <a:t> </a:t>
            </a:r>
            <a:r>
              <a:rPr dirty="0"/>
              <a:t>system</a:t>
            </a:r>
            <a:r>
              <a:rPr dirty="0" spc="-25"/>
              <a:t> </a:t>
            </a:r>
            <a:r>
              <a:rPr dirty="0" spc="-10"/>
              <a:t>manipulation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6310" y="1093978"/>
            <a:ext cx="8441055" cy="5304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9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2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file</a:t>
            </a:r>
            <a:r>
              <a:rPr dirty="0" sz="1800" spc="3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represents</a:t>
            </a:r>
            <a:r>
              <a:rPr dirty="0" sz="1800" spc="3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3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collection</a:t>
            </a:r>
            <a:r>
              <a:rPr dirty="0" sz="1800" spc="3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3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related</a:t>
            </a:r>
            <a:r>
              <a:rPr dirty="0" sz="1800" spc="3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information.</a:t>
            </a:r>
            <a:r>
              <a:rPr dirty="0" sz="1800" spc="3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Computers</a:t>
            </a:r>
            <a:r>
              <a:rPr dirty="0" sz="1800" spc="3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dirty="0" sz="1800" spc="3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store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files</a:t>
            </a:r>
            <a:r>
              <a:rPr dirty="0" sz="18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disk</a:t>
            </a:r>
            <a:r>
              <a:rPr dirty="0" sz="18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(secondary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storage),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long-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term</a:t>
            </a:r>
            <a:r>
              <a:rPr dirty="0" sz="18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storage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purpose.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Examples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storage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media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include</a:t>
            </a:r>
            <a:r>
              <a:rPr dirty="0" sz="18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magnetic</a:t>
            </a:r>
            <a:r>
              <a:rPr dirty="0" sz="18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tape,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magnetic</a:t>
            </a:r>
            <a:r>
              <a:rPr dirty="0" sz="18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disk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optical</a:t>
            </a:r>
            <a:r>
              <a:rPr dirty="0" sz="18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disk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drives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like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CD,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DVD.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Each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these</a:t>
            </a:r>
            <a:r>
              <a:rPr dirty="0" sz="1800" spc="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media has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its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own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properties like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speed,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capacity,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transfer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rate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access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methods.</a:t>
            </a:r>
            <a:endParaRPr sz="1800">
              <a:latin typeface="Trebuchet MS"/>
              <a:cs typeface="Trebuchet MS"/>
            </a:endParaRPr>
          </a:p>
          <a:p>
            <a:pPr algn="just" marL="355600" marR="6350" indent="-3429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1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file</a:t>
            </a:r>
            <a:r>
              <a:rPr dirty="0" sz="1800" spc="2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25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2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normally</a:t>
            </a:r>
            <a:r>
              <a:rPr dirty="0" sz="1800" spc="2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organized</a:t>
            </a:r>
            <a:r>
              <a:rPr dirty="0" sz="1800" spc="25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into</a:t>
            </a:r>
            <a:r>
              <a:rPr dirty="0" sz="1800" spc="2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directories</a:t>
            </a:r>
            <a:r>
              <a:rPr dirty="0" sz="1800" spc="25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dirty="0" sz="1800" spc="2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easy</a:t>
            </a:r>
            <a:r>
              <a:rPr dirty="0" sz="1800" spc="2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navigation</a:t>
            </a:r>
            <a:r>
              <a:rPr dirty="0" sz="1800" spc="25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usage.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These directories</a:t>
            </a:r>
            <a:r>
              <a:rPr dirty="0" sz="1800" spc="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may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contain files and</a:t>
            </a:r>
            <a:r>
              <a:rPr dirty="0" sz="1800" spc="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other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directions.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Following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are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major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activities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respect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file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management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endParaRPr sz="180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10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Program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needs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read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file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write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file.</a:t>
            </a:r>
            <a:endParaRPr sz="1800">
              <a:latin typeface="Trebuchet MS"/>
              <a:cs typeface="Trebuchet MS"/>
            </a:endParaRPr>
          </a:p>
          <a:p>
            <a:pPr marL="355600" marR="6985" indent="-3429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2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800" spc="2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2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gives</a:t>
            </a:r>
            <a:r>
              <a:rPr dirty="0" sz="1800" spc="2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2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permission</a:t>
            </a:r>
            <a:r>
              <a:rPr dirty="0" sz="1800" spc="229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2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2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program</a:t>
            </a:r>
            <a:r>
              <a:rPr dirty="0" sz="1800" spc="2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dirty="0" sz="1800" spc="2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operation</a:t>
            </a:r>
            <a:r>
              <a:rPr dirty="0" sz="1800" spc="2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on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file.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Permission</a:t>
            </a:r>
            <a:r>
              <a:rPr dirty="0" sz="1800" spc="-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varies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from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read-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only,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read-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write,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denied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so</a:t>
            </a:r>
            <a:r>
              <a:rPr dirty="0" sz="1800" spc="-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on.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interface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user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create/delete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files.</a:t>
            </a:r>
            <a:endParaRPr sz="1800">
              <a:latin typeface="Trebuchet MS"/>
              <a:cs typeface="Trebuchet MS"/>
            </a:endParaRPr>
          </a:p>
          <a:p>
            <a:pPr marL="355600" marR="7620" indent="-342900">
              <a:lnSpc>
                <a:spcPct val="100000"/>
              </a:lnSpc>
              <a:spcBef>
                <a:spcPts val="1010"/>
              </a:spcBef>
              <a:tabLst>
                <a:tab pos="354965" algn="l"/>
                <a:tab pos="1550035" algn="l"/>
                <a:tab pos="2454275" algn="l"/>
                <a:tab pos="3499485" algn="l"/>
                <a:tab pos="3929379" algn="l"/>
                <a:tab pos="5051425" algn="l"/>
                <a:tab pos="5447665" algn="l"/>
                <a:tab pos="5971540" algn="l"/>
                <a:tab pos="6587490" algn="l"/>
                <a:tab pos="6983730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interface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user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create/delete directories.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interface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create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backup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file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Communication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6310" y="1529588"/>
            <a:ext cx="8440420" cy="3825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715" indent="-342900">
              <a:lnSpc>
                <a:spcPct val="100000"/>
              </a:lnSpc>
              <a:spcBef>
                <a:spcPts val="1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dirty="0" sz="1800" spc="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case</a:t>
            </a:r>
            <a:r>
              <a:rPr dirty="0" sz="1800" spc="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 distributed</a:t>
            </a:r>
            <a:r>
              <a:rPr dirty="0" sz="1800" spc="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systems</a:t>
            </a:r>
            <a:r>
              <a:rPr dirty="0" sz="18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which</a:t>
            </a:r>
            <a:r>
              <a:rPr dirty="0" sz="1800" spc="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dirty="0" sz="1800" spc="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collection</a:t>
            </a:r>
            <a:r>
              <a:rPr dirty="0" sz="1800" spc="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processors</a:t>
            </a:r>
            <a:r>
              <a:rPr dirty="0" sz="1800" spc="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that do</a:t>
            </a:r>
            <a:r>
              <a:rPr dirty="0" sz="1800" spc="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not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share</a:t>
            </a:r>
            <a:r>
              <a:rPr dirty="0" sz="1800" spc="7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memory,</a:t>
            </a:r>
            <a:r>
              <a:rPr dirty="0" sz="1800" spc="9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peripheral</a:t>
            </a:r>
            <a:r>
              <a:rPr dirty="0" sz="1800" spc="8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devices,</a:t>
            </a:r>
            <a:r>
              <a:rPr dirty="0" sz="1800" spc="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dirty="0" sz="1800" spc="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clock,</a:t>
            </a:r>
            <a:r>
              <a:rPr dirty="0" sz="1800" spc="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800" spc="8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manages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communications</a:t>
            </a:r>
            <a:r>
              <a:rPr dirty="0" sz="1800" spc="17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between</a:t>
            </a:r>
            <a:r>
              <a:rPr dirty="0" sz="1800" spc="17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all</a:t>
            </a:r>
            <a:r>
              <a:rPr dirty="0" sz="1800" spc="17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1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processes.</a:t>
            </a:r>
            <a:r>
              <a:rPr dirty="0" sz="1800" spc="17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Multiple</a:t>
            </a:r>
            <a:r>
              <a:rPr dirty="0" sz="1800" spc="17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processes</a:t>
            </a:r>
            <a:r>
              <a:rPr dirty="0" sz="1800" spc="1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communicate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another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through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communication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lines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network.</a:t>
            </a:r>
            <a:endParaRPr sz="1800">
              <a:latin typeface="Trebuchet MS"/>
              <a:cs typeface="Trebuchet MS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3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handles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routing</a:t>
            </a:r>
            <a:r>
              <a:rPr dirty="0" sz="1800" spc="1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connection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strategies,</a:t>
            </a:r>
            <a:r>
              <a:rPr dirty="0" sz="1800" spc="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1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problems</a:t>
            </a:r>
            <a:r>
              <a:rPr dirty="0" sz="1800" spc="2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contention</a:t>
            </a:r>
            <a:r>
              <a:rPr dirty="0" sz="1800" spc="2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2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security.</a:t>
            </a:r>
            <a:r>
              <a:rPr dirty="0" sz="1800" spc="2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Following</a:t>
            </a:r>
            <a:r>
              <a:rPr dirty="0" sz="1800" spc="2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dirty="0" sz="1800" spc="2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2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major</a:t>
            </a:r>
            <a:r>
              <a:rPr dirty="0" sz="1800" spc="2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activities</a:t>
            </a:r>
            <a:r>
              <a:rPr dirty="0" sz="1800" spc="2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2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dirty="0" sz="1800" spc="25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operating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respect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communication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endParaRPr sz="180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0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 spc="-70">
                <a:solidFill>
                  <a:srgbClr val="404040"/>
                </a:solidFill>
                <a:latin typeface="Trebuchet MS"/>
                <a:cs typeface="Trebuchet MS"/>
              </a:rPr>
              <a:t>Two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processes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often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require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transferred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between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them</a:t>
            </a:r>
            <a:endParaRPr sz="180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101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3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Both</a:t>
            </a:r>
            <a:r>
              <a:rPr dirty="0" sz="1800" spc="20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2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processes</a:t>
            </a:r>
            <a:r>
              <a:rPr dirty="0" sz="1800" spc="2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dirty="0" sz="1800" spc="20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dirty="0" sz="1800" spc="2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dirty="0" sz="1800" spc="2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dirty="0" sz="1800" spc="2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computer</a:t>
            </a:r>
            <a:r>
              <a:rPr dirty="0" sz="1800" spc="2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dirty="0" sz="1800" spc="2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dirty="0" sz="1800" spc="2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different</a:t>
            </a:r>
            <a:r>
              <a:rPr dirty="0" sz="1800" spc="20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computers,</a:t>
            </a:r>
            <a:r>
              <a:rPr dirty="0" sz="1800" spc="19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but</a:t>
            </a:r>
            <a:endParaRPr sz="1800">
              <a:latin typeface="Trebuchet MS"/>
              <a:cs typeface="Trebuchet MS"/>
            </a:endParaRPr>
          </a:p>
          <a:p>
            <a:pPr algn="just" marL="3556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connected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through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computer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network.</a:t>
            </a:r>
            <a:endParaRPr sz="1800">
              <a:latin typeface="Trebuchet MS"/>
              <a:cs typeface="Trebuchet MS"/>
            </a:endParaRPr>
          </a:p>
          <a:p>
            <a:pPr algn="just" marL="355600" marR="7620" indent="-3429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9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Communication</a:t>
            </a:r>
            <a:r>
              <a:rPr dirty="0" sz="1800" spc="1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may</a:t>
            </a:r>
            <a:r>
              <a:rPr dirty="0" sz="1800" spc="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dirty="0" sz="1800" spc="1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implemented</a:t>
            </a:r>
            <a:r>
              <a:rPr dirty="0" sz="1800" spc="1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by  two  methods,</a:t>
            </a:r>
            <a:r>
              <a:rPr dirty="0" sz="1800" spc="1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either</a:t>
            </a:r>
            <a:r>
              <a:rPr dirty="0" sz="1800" spc="1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dirty="0" sz="1800" spc="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Shared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Memory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Message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Passing.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Error</a:t>
            </a:r>
            <a:r>
              <a:rPr dirty="0" spc="-95"/>
              <a:t> </a:t>
            </a:r>
            <a:r>
              <a:rPr dirty="0" spc="-10"/>
              <a:t>handling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78077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9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/>
              <a:t>Errors</a:t>
            </a:r>
            <a:r>
              <a:rPr dirty="0" spc="210"/>
              <a:t> </a:t>
            </a:r>
            <a:r>
              <a:rPr dirty="0"/>
              <a:t>can</a:t>
            </a:r>
            <a:r>
              <a:rPr dirty="0" spc="220"/>
              <a:t> </a:t>
            </a:r>
            <a:r>
              <a:rPr dirty="0"/>
              <a:t>occur</a:t>
            </a:r>
            <a:r>
              <a:rPr dirty="0" spc="204"/>
              <a:t> </a:t>
            </a:r>
            <a:r>
              <a:rPr dirty="0"/>
              <a:t>anytime</a:t>
            </a:r>
            <a:r>
              <a:rPr dirty="0" spc="204"/>
              <a:t> </a:t>
            </a:r>
            <a:r>
              <a:rPr dirty="0"/>
              <a:t>and</a:t>
            </a:r>
            <a:r>
              <a:rPr dirty="0" spc="215"/>
              <a:t> </a:t>
            </a:r>
            <a:r>
              <a:rPr dirty="0"/>
              <a:t>anywhere.</a:t>
            </a:r>
            <a:r>
              <a:rPr dirty="0" spc="204"/>
              <a:t> </a:t>
            </a:r>
            <a:r>
              <a:rPr dirty="0"/>
              <a:t>An</a:t>
            </a:r>
            <a:r>
              <a:rPr dirty="0" spc="204"/>
              <a:t> </a:t>
            </a:r>
            <a:r>
              <a:rPr dirty="0"/>
              <a:t>error</a:t>
            </a:r>
            <a:r>
              <a:rPr dirty="0" spc="200"/>
              <a:t> </a:t>
            </a:r>
            <a:r>
              <a:rPr dirty="0"/>
              <a:t>may</a:t>
            </a:r>
            <a:r>
              <a:rPr dirty="0" spc="229"/>
              <a:t> </a:t>
            </a:r>
            <a:r>
              <a:rPr dirty="0"/>
              <a:t>occur</a:t>
            </a:r>
            <a:r>
              <a:rPr dirty="0" spc="204"/>
              <a:t> </a:t>
            </a:r>
            <a:r>
              <a:rPr dirty="0"/>
              <a:t>in</a:t>
            </a:r>
            <a:r>
              <a:rPr dirty="0" spc="210"/>
              <a:t> </a:t>
            </a:r>
            <a:r>
              <a:rPr dirty="0"/>
              <a:t>CPU,</a:t>
            </a:r>
            <a:r>
              <a:rPr dirty="0" spc="200"/>
              <a:t> </a:t>
            </a:r>
            <a:r>
              <a:rPr dirty="0"/>
              <a:t>in</a:t>
            </a:r>
            <a:r>
              <a:rPr dirty="0" spc="210"/>
              <a:t> </a:t>
            </a:r>
            <a:r>
              <a:rPr dirty="0" spc="-25"/>
              <a:t>I/O </a:t>
            </a:r>
            <a:r>
              <a:rPr dirty="0"/>
              <a:t>devices</a:t>
            </a:r>
            <a:r>
              <a:rPr dirty="0" spc="100"/>
              <a:t> </a:t>
            </a:r>
            <a:r>
              <a:rPr dirty="0"/>
              <a:t>or</a:t>
            </a:r>
            <a:r>
              <a:rPr dirty="0" spc="95"/>
              <a:t> </a:t>
            </a:r>
            <a:r>
              <a:rPr dirty="0"/>
              <a:t>in</a:t>
            </a:r>
            <a:r>
              <a:rPr dirty="0" spc="105"/>
              <a:t> </a:t>
            </a:r>
            <a:r>
              <a:rPr dirty="0"/>
              <a:t>the</a:t>
            </a:r>
            <a:r>
              <a:rPr dirty="0" spc="100"/>
              <a:t> </a:t>
            </a:r>
            <a:r>
              <a:rPr dirty="0"/>
              <a:t>memory</a:t>
            </a:r>
            <a:r>
              <a:rPr dirty="0" spc="105"/>
              <a:t> </a:t>
            </a:r>
            <a:r>
              <a:rPr dirty="0"/>
              <a:t>hardware.</a:t>
            </a:r>
            <a:r>
              <a:rPr dirty="0" spc="100"/>
              <a:t> </a:t>
            </a:r>
            <a:r>
              <a:rPr dirty="0"/>
              <a:t>Following</a:t>
            </a:r>
            <a:r>
              <a:rPr dirty="0" spc="100"/>
              <a:t> </a:t>
            </a:r>
            <a:r>
              <a:rPr dirty="0"/>
              <a:t>are</a:t>
            </a:r>
            <a:r>
              <a:rPr dirty="0" spc="105"/>
              <a:t> </a:t>
            </a:r>
            <a:r>
              <a:rPr dirty="0"/>
              <a:t>the</a:t>
            </a:r>
            <a:r>
              <a:rPr dirty="0" spc="100"/>
              <a:t> </a:t>
            </a:r>
            <a:r>
              <a:rPr dirty="0"/>
              <a:t>major</a:t>
            </a:r>
            <a:r>
              <a:rPr dirty="0" spc="105"/>
              <a:t> </a:t>
            </a:r>
            <a:r>
              <a:rPr dirty="0"/>
              <a:t>activities</a:t>
            </a:r>
            <a:r>
              <a:rPr dirty="0" spc="95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 spc="-25"/>
              <a:t>an </a:t>
            </a:r>
            <a:r>
              <a:rPr dirty="0"/>
              <a:t>operating</a:t>
            </a:r>
            <a:r>
              <a:rPr dirty="0" spc="-45"/>
              <a:t> </a:t>
            </a:r>
            <a:r>
              <a:rPr dirty="0"/>
              <a:t>system</a:t>
            </a:r>
            <a:r>
              <a:rPr dirty="0" spc="-35"/>
              <a:t> </a:t>
            </a:r>
            <a:r>
              <a:rPr dirty="0"/>
              <a:t>with</a:t>
            </a:r>
            <a:r>
              <a:rPr dirty="0" spc="-55"/>
              <a:t> </a:t>
            </a:r>
            <a:r>
              <a:rPr dirty="0"/>
              <a:t>respect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error</a:t>
            </a:r>
            <a:r>
              <a:rPr dirty="0" spc="-35"/>
              <a:t> </a:t>
            </a:r>
            <a:r>
              <a:rPr dirty="0"/>
              <a:t>handling</a:t>
            </a:r>
            <a:r>
              <a:rPr dirty="0" spc="-55"/>
              <a:t> </a:t>
            </a:r>
            <a:r>
              <a:rPr dirty="0" spc="-50"/>
              <a:t>−</a:t>
            </a:r>
            <a:endParaRPr sz="145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OS</a:t>
            </a:r>
            <a:r>
              <a:rPr dirty="0" spc="-30"/>
              <a:t> </a:t>
            </a:r>
            <a:r>
              <a:rPr dirty="0"/>
              <a:t>constantly</a:t>
            </a:r>
            <a:r>
              <a:rPr dirty="0" spc="-50"/>
              <a:t> </a:t>
            </a:r>
            <a:r>
              <a:rPr dirty="0"/>
              <a:t>checks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40"/>
              <a:t> </a:t>
            </a:r>
            <a:r>
              <a:rPr dirty="0"/>
              <a:t>possible</a:t>
            </a:r>
            <a:r>
              <a:rPr dirty="0" spc="-50"/>
              <a:t> </a:t>
            </a:r>
            <a:r>
              <a:rPr dirty="0" spc="-10"/>
              <a:t>errors.</a:t>
            </a:r>
            <a:endParaRPr sz="1450">
              <a:latin typeface="Lucida Sans Unicode"/>
              <a:cs typeface="Lucida Sans Unicode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4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/>
              <a:t>The</a:t>
            </a:r>
            <a:r>
              <a:rPr dirty="0" spc="120"/>
              <a:t>  </a:t>
            </a:r>
            <a:r>
              <a:rPr dirty="0"/>
              <a:t>OS</a:t>
            </a:r>
            <a:r>
              <a:rPr dirty="0" spc="125"/>
              <a:t>  </a:t>
            </a:r>
            <a:r>
              <a:rPr dirty="0"/>
              <a:t>takes</a:t>
            </a:r>
            <a:r>
              <a:rPr dirty="0" spc="130"/>
              <a:t>  </a:t>
            </a:r>
            <a:r>
              <a:rPr dirty="0"/>
              <a:t>an</a:t>
            </a:r>
            <a:r>
              <a:rPr dirty="0" spc="125"/>
              <a:t>  </a:t>
            </a:r>
            <a:r>
              <a:rPr dirty="0"/>
              <a:t>appropriate</a:t>
            </a:r>
            <a:r>
              <a:rPr dirty="0" spc="125"/>
              <a:t>  </a:t>
            </a:r>
            <a:r>
              <a:rPr dirty="0"/>
              <a:t>action</a:t>
            </a:r>
            <a:r>
              <a:rPr dirty="0" spc="120"/>
              <a:t>  </a:t>
            </a:r>
            <a:r>
              <a:rPr dirty="0"/>
              <a:t>to</a:t>
            </a:r>
            <a:r>
              <a:rPr dirty="0" spc="125"/>
              <a:t>  </a:t>
            </a:r>
            <a:r>
              <a:rPr dirty="0"/>
              <a:t>ensure</a:t>
            </a:r>
            <a:r>
              <a:rPr dirty="0" spc="120"/>
              <a:t>  </a:t>
            </a:r>
            <a:r>
              <a:rPr dirty="0"/>
              <a:t>correct</a:t>
            </a:r>
            <a:r>
              <a:rPr dirty="0" spc="120"/>
              <a:t>  </a:t>
            </a:r>
            <a:r>
              <a:rPr dirty="0"/>
              <a:t>and</a:t>
            </a:r>
            <a:r>
              <a:rPr dirty="0" spc="125"/>
              <a:t>  </a:t>
            </a:r>
            <a:r>
              <a:rPr dirty="0" spc="-10"/>
              <a:t>consistent computing.</a:t>
            </a:r>
            <a:endParaRPr sz="1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Resource</a:t>
            </a:r>
            <a:r>
              <a:rPr dirty="0" spc="-20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78077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9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/>
              <a:t>In</a:t>
            </a:r>
            <a:r>
              <a:rPr dirty="0" spc="285"/>
              <a:t> </a:t>
            </a:r>
            <a:r>
              <a:rPr dirty="0"/>
              <a:t>case</a:t>
            </a:r>
            <a:r>
              <a:rPr dirty="0" spc="290"/>
              <a:t> </a:t>
            </a:r>
            <a:r>
              <a:rPr dirty="0"/>
              <a:t>of</a:t>
            </a:r>
            <a:r>
              <a:rPr dirty="0" spc="275"/>
              <a:t> </a:t>
            </a:r>
            <a:r>
              <a:rPr dirty="0" spc="-10"/>
              <a:t>multi-</a:t>
            </a:r>
            <a:r>
              <a:rPr dirty="0"/>
              <a:t>user</a:t>
            </a:r>
            <a:r>
              <a:rPr dirty="0" spc="280"/>
              <a:t> </a:t>
            </a:r>
            <a:r>
              <a:rPr dirty="0"/>
              <a:t>or</a:t>
            </a:r>
            <a:r>
              <a:rPr dirty="0" spc="280"/>
              <a:t> </a:t>
            </a:r>
            <a:r>
              <a:rPr dirty="0" spc="-10"/>
              <a:t>multi-</a:t>
            </a:r>
            <a:r>
              <a:rPr dirty="0"/>
              <a:t>tasking</a:t>
            </a:r>
            <a:r>
              <a:rPr dirty="0" spc="285"/>
              <a:t> </a:t>
            </a:r>
            <a:r>
              <a:rPr dirty="0"/>
              <a:t>environment,</a:t>
            </a:r>
            <a:r>
              <a:rPr dirty="0" spc="260"/>
              <a:t> </a:t>
            </a:r>
            <a:r>
              <a:rPr dirty="0"/>
              <a:t>resources</a:t>
            </a:r>
            <a:r>
              <a:rPr dirty="0" spc="290"/>
              <a:t> </a:t>
            </a:r>
            <a:r>
              <a:rPr dirty="0"/>
              <a:t>such</a:t>
            </a:r>
            <a:r>
              <a:rPr dirty="0" spc="285"/>
              <a:t> </a:t>
            </a:r>
            <a:r>
              <a:rPr dirty="0"/>
              <a:t>as</a:t>
            </a:r>
            <a:r>
              <a:rPr dirty="0" spc="260"/>
              <a:t> </a:t>
            </a:r>
            <a:r>
              <a:rPr dirty="0" spc="-20"/>
              <a:t>main memory,</a:t>
            </a:r>
            <a:r>
              <a:rPr dirty="0" spc="30"/>
              <a:t> </a:t>
            </a:r>
            <a:r>
              <a:rPr dirty="0"/>
              <a:t>CPU</a:t>
            </a:r>
            <a:r>
              <a:rPr dirty="0" spc="20"/>
              <a:t> </a:t>
            </a:r>
            <a:r>
              <a:rPr dirty="0"/>
              <a:t>cycles</a:t>
            </a:r>
            <a:r>
              <a:rPr dirty="0" spc="35"/>
              <a:t> </a:t>
            </a:r>
            <a:r>
              <a:rPr dirty="0"/>
              <a:t>and</a:t>
            </a:r>
            <a:r>
              <a:rPr dirty="0" spc="25"/>
              <a:t> </a:t>
            </a:r>
            <a:r>
              <a:rPr dirty="0"/>
              <a:t>files</a:t>
            </a:r>
            <a:r>
              <a:rPr dirty="0" spc="25"/>
              <a:t> </a:t>
            </a:r>
            <a:r>
              <a:rPr dirty="0"/>
              <a:t>storage</a:t>
            </a:r>
            <a:r>
              <a:rPr dirty="0" spc="30"/>
              <a:t> </a:t>
            </a:r>
            <a:r>
              <a:rPr dirty="0"/>
              <a:t>are</a:t>
            </a:r>
            <a:r>
              <a:rPr dirty="0" spc="30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35"/>
              <a:t> </a:t>
            </a:r>
            <a:r>
              <a:rPr dirty="0"/>
              <a:t>allocated</a:t>
            </a:r>
            <a:r>
              <a:rPr dirty="0" spc="1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each</a:t>
            </a:r>
            <a:r>
              <a:rPr dirty="0" spc="35"/>
              <a:t> </a:t>
            </a:r>
            <a:r>
              <a:rPr dirty="0"/>
              <a:t>user</a:t>
            </a:r>
            <a:r>
              <a:rPr dirty="0" spc="25"/>
              <a:t> </a:t>
            </a:r>
            <a:r>
              <a:rPr dirty="0"/>
              <a:t>or</a:t>
            </a:r>
            <a:r>
              <a:rPr dirty="0" spc="30"/>
              <a:t> </a:t>
            </a:r>
            <a:r>
              <a:rPr dirty="0" spc="-20"/>
              <a:t>job. </a:t>
            </a:r>
            <a:r>
              <a:rPr dirty="0"/>
              <a:t>Following</a:t>
            </a:r>
            <a:r>
              <a:rPr dirty="0" spc="355"/>
              <a:t> </a:t>
            </a:r>
            <a:r>
              <a:rPr dirty="0"/>
              <a:t>are</a:t>
            </a:r>
            <a:r>
              <a:rPr dirty="0" spc="350"/>
              <a:t> </a:t>
            </a:r>
            <a:r>
              <a:rPr dirty="0"/>
              <a:t>the</a:t>
            </a:r>
            <a:r>
              <a:rPr dirty="0" spc="365"/>
              <a:t> </a:t>
            </a:r>
            <a:r>
              <a:rPr dirty="0"/>
              <a:t>major</a:t>
            </a:r>
            <a:r>
              <a:rPr dirty="0" spc="355"/>
              <a:t> </a:t>
            </a:r>
            <a:r>
              <a:rPr dirty="0"/>
              <a:t>activities</a:t>
            </a:r>
            <a:r>
              <a:rPr dirty="0" spc="360"/>
              <a:t> </a:t>
            </a:r>
            <a:r>
              <a:rPr dirty="0"/>
              <a:t>of</a:t>
            </a:r>
            <a:r>
              <a:rPr dirty="0" spc="355"/>
              <a:t> </a:t>
            </a:r>
            <a:r>
              <a:rPr dirty="0"/>
              <a:t>an</a:t>
            </a:r>
            <a:r>
              <a:rPr dirty="0" spc="355"/>
              <a:t> </a:t>
            </a:r>
            <a:r>
              <a:rPr dirty="0"/>
              <a:t>operating</a:t>
            </a:r>
            <a:r>
              <a:rPr dirty="0" spc="360"/>
              <a:t> </a:t>
            </a:r>
            <a:r>
              <a:rPr dirty="0"/>
              <a:t>system</a:t>
            </a:r>
            <a:r>
              <a:rPr dirty="0" spc="365"/>
              <a:t> </a:t>
            </a:r>
            <a:r>
              <a:rPr dirty="0"/>
              <a:t>with</a:t>
            </a:r>
            <a:r>
              <a:rPr dirty="0" spc="355"/>
              <a:t> </a:t>
            </a:r>
            <a:r>
              <a:rPr dirty="0"/>
              <a:t>respect</a:t>
            </a:r>
            <a:r>
              <a:rPr dirty="0" spc="355"/>
              <a:t> </a:t>
            </a:r>
            <a:r>
              <a:rPr dirty="0" spc="-25"/>
              <a:t>to </a:t>
            </a:r>
            <a:r>
              <a:rPr dirty="0"/>
              <a:t>resource</a:t>
            </a:r>
            <a:r>
              <a:rPr dirty="0" spc="-105"/>
              <a:t> </a:t>
            </a:r>
            <a:r>
              <a:rPr dirty="0"/>
              <a:t>management</a:t>
            </a:r>
            <a:r>
              <a:rPr dirty="0" spc="-85"/>
              <a:t> </a:t>
            </a:r>
            <a:r>
              <a:rPr dirty="0" spc="-50"/>
              <a:t>−</a:t>
            </a:r>
            <a:endParaRPr sz="145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9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OS</a:t>
            </a:r>
            <a:r>
              <a:rPr dirty="0" spc="-25"/>
              <a:t> </a:t>
            </a:r>
            <a:r>
              <a:rPr dirty="0"/>
              <a:t>manages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40"/>
              <a:t> </a:t>
            </a:r>
            <a:r>
              <a:rPr dirty="0"/>
              <a:t>kinds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resources</a:t>
            </a:r>
            <a:r>
              <a:rPr dirty="0" spc="-25"/>
              <a:t> </a:t>
            </a:r>
            <a:r>
              <a:rPr dirty="0"/>
              <a:t>using</a:t>
            </a:r>
            <a:r>
              <a:rPr dirty="0" spc="-25"/>
              <a:t> </a:t>
            </a:r>
            <a:r>
              <a:rPr dirty="0" spc="-10"/>
              <a:t>schedulers.</a:t>
            </a:r>
            <a:endParaRPr sz="145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10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/>
              <a:t>CPU</a:t>
            </a:r>
            <a:r>
              <a:rPr dirty="0" spc="-35"/>
              <a:t> </a:t>
            </a:r>
            <a:r>
              <a:rPr dirty="0"/>
              <a:t>scheduling</a:t>
            </a:r>
            <a:r>
              <a:rPr dirty="0" spc="-40"/>
              <a:t> </a:t>
            </a:r>
            <a:r>
              <a:rPr dirty="0"/>
              <a:t>algorithms</a:t>
            </a:r>
            <a:r>
              <a:rPr dirty="0" spc="-20"/>
              <a:t> </a:t>
            </a:r>
            <a:r>
              <a:rPr dirty="0"/>
              <a:t>are</a:t>
            </a:r>
            <a:r>
              <a:rPr dirty="0" spc="-20"/>
              <a:t> </a:t>
            </a:r>
            <a:r>
              <a:rPr dirty="0"/>
              <a:t>used</a:t>
            </a:r>
            <a:r>
              <a:rPr dirty="0" spc="-3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/>
              <a:t>better</a:t>
            </a:r>
            <a:r>
              <a:rPr dirty="0" spc="-20"/>
              <a:t> </a:t>
            </a:r>
            <a:r>
              <a:rPr dirty="0"/>
              <a:t>utilization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 spc="-20"/>
              <a:t>CPU.</a:t>
            </a:r>
            <a:endParaRPr sz="1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Protection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6310" y="2187955"/>
            <a:ext cx="8441690" cy="3277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6985" indent="-342900">
              <a:lnSpc>
                <a:spcPct val="100000"/>
              </a:lnSpc>
              <a:spcBef>
                <a:spcPts val="1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3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Considering</a:t>
            </a:r>
            <a:r>
              <a:rPr dirty="0" sz="1800" spc="19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19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computer</a:t>
            </a:r>
            <a:r>
              <a:rPr dirty="0" sz="1800" spc="19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19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having</a:t>
            </a:r>
            <a:r>
              <a:rPr dirty="0" sz="1800" spc="20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multiple</a:t>
            </a:r>
            <a:r>
              <a:rPr dirty="0" sz="1800" spc="19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users</a:t>
            </a:r>
            <a:r>
              <a:rPr dirty="0" sz="1800" spc="195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20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concurrent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execution</a:t>
            </a:r>
            <a:r>
              <a:rPr dirty="0" sz="1800" spc="39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409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multiple</a:t>
            </a:r>
            <a:r>
              <a:rPr dirty="0" sz="1800" spc="4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processes,</a:t>
            </a:r>
            <a:r>
              <a:rPr dirty="0" sz="1800" spc="40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4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various</a:t>
            </a:r>
            <a:r>
              <a:rPr dirty="0" sz="1800" spc="4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processes</a:t>
            </a:r>
            <a:r>
              <a:rPr dirty="0" sz="1800" spc="40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must</a:t>
            </a:r>
            <a:r>
              <a:rPr dirty="0" sz="1800" spc="40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dirty="0" sz="1800" spc="4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protected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from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each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other's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activities.</a:t>
            </a:r>
            <a:endParaRPr sz="1800">
              <a:latin typeface="Trebuchet MS"/>
              <a:cs typeface="Trebuchet MS"/>
            </a:endParaRPr>
          </a:p>
          <a:p>
            <a:pPr algn="just" marL="355600" marR="5715" indent="-3429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5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Protection</a:t>
            </a:r>
            <a:r>
              <a:rPr dirty="0" sz="1800" spc="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refers</a:t>
            </a:r>
            <a:r>
              <a:rPr dirty="0" sz="1800" spc="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mechanism</a:t>
            </a:r>
            <a:r>
              <a:rPr dirty="0" sz="1800" spc="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dirty="0" sz="1800" spc="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way</a:t>
            </a:r>
            <a:r>
              <a:rPr dirty="0" sz="1800" spc="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r>
              <a:rPr dirty="0" sz="1800" spc="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access</a:t>
            </a:r>
            <a:r>
              <a:rPr dirty="0" sz="1800" spc="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programs,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processes,</a:t>
            </a:r>
            <a:r>
              <a:rPr dirty="0" sz="1800" spc="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dirty="0" sz="1800" spc="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users</a:t>
            </a:r>
            <a:r>
              <a:rPr dirty="0" sz="1800" spc="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resources</a:t>
            </a:r>
            <a:r>
              <a:rPr dirty="0" sz="1800" spc="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defined</a:t>
            </a:r>
            <a:r>
              <a:rPr dirty="0" sz="1800" spc="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dirty="0" sz="1800" spc="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800" spc="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computer</a:t>
            </a:r>
            <a:r>
              <a:rPr dirty="0" sz="1800" spc="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system.</a:t>
            </a:r>
            <a:r>
              <a:rPr dirty="0" sz="1800" spc="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Following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major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activities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respect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protection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−</a:t>
            </a:r>
            <a:endParaRPr sz="180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100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ensures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dirty="0" sz="18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all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access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resources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controlled.</a:t>
            </a:r>
            <a:endParaRPr sz="1800">
              <a:latin typeface="Trebuchet MS"/>
              <a:cs typeface="Trebuchet MS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1010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2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2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dirty="0" sz="1800" spc="20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ensures</a:t>
            </a:r>
            <a:r>
              <a:rPr dirty="0" sz="1800" spc="2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dirty="0" sz="1800" spc="20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external</a:t>
            </a:r>
            <a:r>
              <a:rPr dirty="0" sz="1800" spc="2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I/O</a:t>
            </a:r>
            <a:r>
              <a:rPr dirty="0" sz="1800" spc="19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devices</a:t>
            </a:r>
            <a:r>
              <a:rPr dirty="0" sz="1800" spc="20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dirty="0" sz="1800" spc="2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protected</a:t>
            </a:r>
            <a:r>
              <a:rPr dirty="0" sz="1800" spc="2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from</a:t>
            </a:r>
            <a:r>
              <a:rPr dirty="0" sz="1800" spc="2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invalid</a:t>
            </a:r>
            <a:r>
              <a:rPr dirty="0" sz="1800" spc="2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access attempts.</a:t>
            </a:r>
            <a:endParaRPr sz="180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994"/>
              </a:spcBef>
            </a:pPr>
            <a:r>
              <a:rPr dirty="0" sz="1450" spc="114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 spc="21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-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authentication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features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dirty="0" sz="18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each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user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means</a:t>
            </a:r>
            <a:r>
              <a:rPr dirty="0" sz="18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passwords.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dirty="0" spc="-55"/>
              <a:t> </a:t>
            </a:r>
            <a:r>
              <a:rPr dirty="0"/>
              <a:t>Call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50"/>
              <a:t> </a:t>
            </a:r>
            <a:r>
              <a:rPr dirty="0" spc="-10"/>
              <a:t>Linux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6310" y="2187955"/>
            <a:ext cx="830325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1450" spc="6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45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call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dirty="0" sz="1800" spc="-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fundamental</a:t>
            </a:r>
            <a:r>
              <a:rPr dirty="0" sz="18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interface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between</a:t>
            </a:r>
            <a:r>
              <a:rPr dirty="0" sz="18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dirty="0" sz="18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application</a:t>
            </a:r>
            <a:r>
              <a:rPr dirty="0" sz="18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dirty="0" sz="1800">
                <a:solidFill>
                  <a:srgbClr val="404040"/>
                </a:solidFill>
                <a:latin typeface="Trebuchet MS"/>
                <a:cs typeface="Trebuchet MS"/>
              </a:rPr>
              <a:t>Linux</a:t>
            </a:r>
            <a:r>
              <a:rPr dirty="0" sz="18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rebuchet MS"/>
                <a:cs typeface="Trebuchet MS"/>
              </a:rPr>
              <a:t>kernel.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dc:title>Features of Linux Operating System</dc:title>
  <dcterms:created xsi:type="dcterms:W3CDTF">2025-02-03T10:19:00Z</dcterms:created>
  <dcterms:modified xsi:type="dcterms:W3CDTF">2025-02-03T10:19:00Z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2022-02-25T00:00:00Z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2025-02-03T00:00:00Z</vt:filetime>
  </property>
  <property fmtid="{D5CDD505-2E9C-101B-9397-08002B2CF9AE}" pid="5" name="Producer">
    <vt:lpwstr>Microsoft® PowerPoint® 2013</vt:lpwstr>
  </property>
</Properties>
</file>