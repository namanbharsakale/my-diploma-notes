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gramiz.com/python-programming/variables-constants-literals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/array" TargetMode="External"/><Relationship Id="rId2" Type="http://schemas.openxmlformats.org/officeDocument/2006/relationships/hyperlink" Target="https://www.programiz.com/python-programming/args-and-kwargs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programiz.com/python-programming/for-loop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gramiz.com/python-programming/function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gramiz.com/python-programming/keywords-identifier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/list" TargetMode="External"/><Relationship Id="rId2" Type="http://schemas.openxmlformats.org/officeDocument/2006/relationships/hyperlink" Target="https://www.programiz.com/python-programming/methods/built-in/filter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programiz.com/python-programming/string" TargetMode="External"/><Relationship Id="rId4" Type="http://schemas.openxmlformats.org/officeDocument/2006/relationships/hyperlink" Target="https://www.programiz.com/python-programming/tuple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gramiz.com/python-programming/methods/built-in/map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Python Functions</a:t>
            </a:r>
            <a:br>
              <a:rPr lang="en-IN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136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28600"/>
            <a:ext cx="8915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 function is a block of code that performs a specific task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Dividing a complex problem into smaller chunks makes our program easy to understand and reuse</a:t>
            </a:r>
            <a:r>
              <a:rPr lang="en-US" b="1" dirty="0" smtClean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IN" b="1" dirty="0"/>
              <a:t>Create a Function</a:t>
            </a:r>
          </a:p>
          <a:p>
            <a:r>
              <a:rPr lang="en-US" dirty="0"/>
              <a:t>def</a:t>
            </a:r>
            <a:r>
              <a:rPr lang="en-US" dirty="0"/>
              <a:t> </a:t>
            </a:r>
            <a:r>
              <a:rPr lang="en-US" dirty="0"/>
              <a:t>greet</a:t>
            </a:r>
            <a:r>
              <a:rPr lang="en-US" dirty="0"/>
              <a:t>():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print</a:t>
            </a:r>
            <a:r>
              <a:rPr lang="en-US" dirty="0"/>
              <a:t>(</a:t>
            </a:r>
            <a:r>
              <a:rPr lang="en-US" dirty="0"/>
              <a:t>'Hello World</a:t>
            </a:r>
            <a:r>
              <a:rPr lang="en-US" dirty="0" smtClean="0"/>
              <a:t>!')</a:t>
            </a:r>
          </a:p>
          <a:p>
            <a:endParaRPr lang="en-US" dirty="0"/>
          </a:p>
          <a:p>
            <a:r>
              <a:rPr lang="en-US" dirty="0" smtClean="0"/>
              <a:t># </a:t>
            </a:r>
            <a:r>
              <a:rPr lang="en-US" dirty="0"/>
              <a:t>call the function</a:t>
            </a:r>
          </a:p>
          <a:p>
            <a:r>
              <a:rPr lang="en-US" dirty="0"/>
              <a:t>greet()</a:t>
            </a:r>
          </a:p>
          <a:p>
            <a:endParaRPr lang="en-US" dirty="0"/>
          </a:p>
          <a:p>
            <a:r>
              <a:rPr lang="en-US" dirty="0"/>
              <a:t>print('Outside function')</a:t>
            </a:r>
            <a:endParaRPr lang="en-IN" dirty="0" smtClean="0"/>
          </a:p>
          <a:p>
            <a:endParaRPr lang="en-US" dirty="0" smtClean="0"/>
          </a:p>
          <a:p>
            <a:r>
              <a:rPr lang="en-US" b="1" dirty="0"/>
              <a:t>Output</a:t>
            </a:r>
            <a:endParaRPr lang="en-US" dirty="0"/>
          </a:p>
          <a:p>
            <a:r>
              <a:rPr lang="en-US" dirty="0"/>
              <a:t>Hello World! </a:t>
            </a:r>
            <a:endParaRPr lang="en-US" dirty="0" smtClean="0"/>
          </a:p>
          <a:p>
            <a:r>
              <a:rPr lang="en-US" dirty="0" smtClean="0"/>
              <a:t>Outside function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981201"/>
            <a:ext cx="4953000" cy="388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813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304800"/>
            <a:ext cx="88392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Python Function </a:t>
            </a:r>
            <a:r>
              <a:rPr lang="en-US" sz="2400" b="1" dirty="0" smtClean="0">
                <a:solidFill>
                  <a:srgbClr val="FF0000"/>
                </a:solidFill>
              </a:rPr>
              <a:t>Arguments</a:t>
            </a:r>
          </a:p>
          <a:p>
            <a:endParaRPr lang="en-US" sz="2400" b="1" dirty="0"/>
          </a:p>
          <a:p>
            <a:r>
              <a:rPr lang="en-US" dirty="0"/>
              <a:t>Arguments are inputs given to the function.</a:t>
            </a:r>
          </a:p>
          <a:p>
            <a:r>
              <a:rPr lang="en-US" dirty="0"/>
              <a:t>def greet(name):</a:t>
            </a:r>
          </a:p>
          <a:p>
            <a:r>
              <a:rPr lang="en-US" dirty="0"/>
              <a:t>    print("Hello", name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# pass argument</a:t>
            </a:r>
          </a:p>
          <a:p>
            <a:r>
              <a:rPr lang="en-US" dirty="0"/>
              <a:t>greet("John</a:t>
            </a:r>
            <a:r>
              <a:rPr lang="en-US" dirty="0" smtClean="0"/>
              <a:t>")</a:t>
            </a:r>
          </a:p>
          <a:p>
            <a:endParaRPr lang="en-US" dirty="0"/>
          </a:p>
          <a:p>
            <a:r>
              <a:rPr lang="en-US" b="1" dirty="0"/>
              <a:t>Sample Output 1</a:t>
            </a:r>
            <a:endParaRPr lang="en-US" dirty="0"/>
          </a:p>
          <a:p>
            <a:r>
              <a:rPr lang="en-US" dirty="0"/>
              <a:t>Hello </a:t>
            </a:r>
            <a:r>
              <a:rPr lang="en-US" dirty="0" smtClean="0"/>
              <a:t>John</a:t>
            </a:r>
          </a:p>
          <a:p>
            <a:endParaRPr lang="en-US" dirty="0"/>
          </a:p>
          <a:p>
            <a:r>
              <a:rPr lang="en-US" dirty="0"/>
              <a:t># function with two arguments</a:t>
            </a:r>
          </a:p>
          <a:p>
            <a:r>
              <a:rPr lang="en-US" dirty="0"/>
              <a:t>def add_numbers(num1, num2):</a:t>
            </a:r>
          </a:p>
          <a:p>
            <a:r>
              <a:rPr lang="en-US" dirty="0"/>
              <a:t>    sum = num1 + num2</a:t>
            </a:r>
          </a:p>
          <a:p>
            <a:r>
              <a:rPr lang="en-US" dirty="0"/>
              <a:t>    print("Sum: ", sum)</a:t>
            </a:r>
          </a:p>
          <a:p>
            <a:endParaRPr lang="en-US" dirty="0"/>
          </a:p>
          <a:p>
            <a:r>
              <a:rPr lang="en-US" dirty="0"/>
              <a:t># function call with two values</a:t>
            </a:r>
          </a:p>
          <a:p>
            <a:r>
              <a:rPr lang="en-US" dirty="0"/>
              <a:t>add_numbers(5, 4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IN" b="1" dirty="0"/>
              <a:t>Output</a:t>
            </a:r>
            <a:endParaRPr lang="en-IN" dirty="0"/>
          </a:p>
          <a:p>
            <a:r>
              <a:rPr lang="en-IN" dirty="0"/>
              <a:t>Sum: 9</a:t>
            </a:r>
          </a:p>
        </p:txBody>
      </p:sp>
    </p:spTree>
    <p:extLst>
      <p:ext uri="{BB962C8B-B14F-4D97-AF65-F5344CB8AC3E}">
        <p14:creationId xmlns:p14="http://schemas.microsoft.com/office/powerpoint/2010/main" val="3742471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9154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Parameters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dirty="0"/>
              <a:t>Parameters are the </a:t>
            </a:r>
            <a:r>
              <a:rPr lang="en-US" dirty="0">
                <a:hlinkClick r:id="rId2" tooltip="Python variables"/>
              </a:rPr>
              <a:t>variables</a:t>
            </a:r>
            <a:r>
              <a:rPr lang="en-US" dirty="0"/>
              <a:t> listed inside the parentheses in the function definition.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act like placeholders for the data the function can accept when we call them.</a:t>
            </a:r>
          </a:p>
          <a:p>
            <a:r>
              <a:rPr lang="en-US" dirty="0"/>
              <a:t>Think of parameters as the </a:t>
            </a:r>
            <a:r>
              <a:rPr lang="en-US" b="1" dirty="0"/>
              <a:t>blueprint</a:t>
            </a:r>
            <a:r>
              <a:rPr lang="en-US" dirty="0"/>
              <a:t> that outlines what kind of information the function expects to receive.</a:t>
            </a:r>
          </a:p>
          <a:p>
            <a:r>
              <a:rPr lang="en-US" dirty="0"/>
              <a:t>def</a:t>
            </a:r>
            <a:r>
              <a:rPr lang="en-US" dirty="0"/>
              <a:t> </a:t>
            </a:r>
            <a:r>
              <a:rPr lang="en-US" dirty="0"/>
              <a:t>print_age</a:t>
            </a:r>
            <a:r>
              <a:rPr lang="en-US" dirty="0"/>
              <a:t>(age): </a:t>
            </a:r>
            <a:r>
              <a:rPr lang="en-US" dirty="0"/>
              <a:t># age is a parameter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print(age)</a:t>
            </a:r>
          </a:p>
          <a:p>
            <a:r>
              <a:rPr lang="en-US" dirty="0" smtClean="0"/>
              <a:t>In </a:t>
            </a:r>
            <a:r>
              <a:rPr lang="en-US" dirty="0"/>
              <a:t>this example, the print_age() function takes age as its input. However, at this stage, the actual value is not specified.</a:t>
            </a:r>
          </a:p>
          <a:p>
            <a:r>
              <a:rPr lang="en-US" dirty="0"/>
              <a:t>The age parameter is just a placeholder waiting for a specific value to be provided when the function is called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sz="2400" b="1" dirty="0">
                <a:solidFill>
                  <a:srgbClr val="FF0000"/>
                </a:solidFill>
              </a:rPr>
              <a:t>Arguments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dirty="0"/>
              <a:t>Arguments are the actual values that we pass to the function when we call it.</a:t>
            </a:r>
          </a:p>
          <a:p>
            <a:r>
              <a:rPr lang="en-US" dirty="0"/>
              <a:t>Arguments replace the parameters when the function executes.</a:t>
            </a:r>
          </a:p>
          <a:p>
            <a:r>
              <a:rPr lang="en-US" dirty="0"/>
              <a:t>print_age(</a:t>
            </a:r>
            <a:r>
              <a:rPr lang="en-US" dirty="0"/>
              <a:t>25</a:t>
            </a:r>
            <a:r>
              <a:rPr lang="en-US" dirty="0"/>
              <a:t>) </a:t>
            </a:r>
            <a:r>
              <a:rPr lang="en-US" dirty="0"/>
              <a:t># 25 is an </a:t>
            </a:r>
            <a:r>
              <a:rPr lang="en-US" dirty="0" smtClean="0"/>
              <a:t>argument</a:t>
            </a:r>
          </a:p>
          <a:p>
            <a:r>
              <a:rPr lang="en-US" dirty="0" smtClean="0"/>
              <a:t> Here</a:t>
            </a:r>
            <a:r>
              <a:rPr lang="en-US" dirty="0"/>
              <a:t>, during the function call, the argument </a:t>
            </a:r>
            <a:r>
              <a:rPr lang="en-US" b="1" dirty="0"/>
              <a:t>25</a:t>
            </a:r>
            <a:r>
              <a:rPr lang="en-US" dirty="0"/>
              <a:t> is passed to the function.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2052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304800"/>
            <a:ext cx="891540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Function Argument with Default </a:t>
            </a:r>
            <a:r>
              <a:rPr lang="en-US" sz="2400" b="1" dirty="0" smtClean="0">
                <a:solidFill>
                  <a:srgbClr val="FF0000"/>
                </a:solidFill>
              </a:rPr>
              <a:t>Values</a:t>
            </a:r>
          </a:p>
          <a:p>
            <a:endParaRPr lang="en-US" sz="2400" b="1" dirty="0"/>
          </a:p>
          <a:p>
            <a:r>
              <a:rPr lang="en-US" dirty="0"/>
              <a:t>In Python, we can provide default values to function arguments.</a:t>
            </a:r>
          </a:p>
          <a:p>
            <a:r>
              <a:rPr lang="en-US" dirty="0"/>
              <a:t>We use the = operator to provide default values</a:t>
            </a:r>
            <a:r>
              <a:rPr lang="en-US" dirty="0" smtClean="0"/>
              <a:t>.</a:t>
            </a:r>
          </a:p>
          <a:p>
            <a:r>
              <a:rPr lang="en-US" dirty="0"/>
              <a:t>def add_numbers( a = 7,  b = 8):</a:t>
            </a:r>
          </a:p>
          <a:p>
            <a:r>
              <a:rPr lang="en-US" dirty="0"/>
              <a:t>    sum = a + b</a:t>
            </a:r>
          </a:p>
          <a:p>
            <a:r>
              <a:rPr lang="en-US" dirty="0"/>
              <a:t>    print('Sum:', sum)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# function call with two arguments</a:t>
            </a:r>
          </a:p>
          <a:p>
            <a:r>
              <a:rPr lang="en-US" dirty="0"/>
              <a:t>add_numbers(2, 3)</a:t>
            </a:r>
          </a:p>
          <a:p>
            <a:endParaRPr lang="en-US" dirty="0"/>
          </a:p>
          <a:p>
            <a:r>
              <a:rPr lang="en-US" dirty="0"/>
              <a:t>#  function call with one argument</a:t>
            </a:r>
          </a:p>
          <a:p>
            <a:r>
              <a:rPr lang="en-US" dirty="0"/>
              <a:t>add_numbers(a = 2)</a:t>
            </a:r>
          </a:p>
          <a:p>
            <a:endParaRPr lang="en-US" dirty="0"/>
          </a:p>
          <a:p>
            <a:r>
              <a:rPr lang="en-US" dirty="0"/>
              <a:t># function call with no arguments</a:t>
            </a:r>
          </a:p>
          <a:p>
            <a:r>
              <a:rPr lang="en-US" dirty="0"/>
              <a:t>add_numbers</a:t>
            </a:r>
            <a:r>
              <a:rPr lang="en-US" dirty="0" smtClean="0"/>
              <a:t>()</a:t>
            </a:r>
          </a:p>
          <a:p>
            <a:endParaRPr lang="en-US" dirty="0" smtClean="0"/>
          </a:p>
          <a:p>
            <a:r>
              <a:rPr lang="en-US" b="1" dirty="0" smtClean="0"/>
              <a:t>Output</a:t>
            </a:r>
            <a:endParaRPr lang="en-US" dirty="0"/>
          </a:p>
          <a:p>
            <a:r>
              <a:rPr lang="en-US" dirty="0"/>
              <a:t>Sum: 5 </a:t>
            </a:r>
            <a:endParaRPr lang="en-US" dirty="0" smtClean="0"/>
          </a:p>
          <a:p>
            <a:r>
              <a:rPr lang="en-US" dirty="0" smtClean="0"/>
              <a:t>Sum</a:t>
            </a:r>
            <a:r>
              <a:rPr lang="en-US" dirty="0"/>
              <a:t>: 10 </a:t>
            </a:r>
            <a:endParaRPr lang="en-US" dirty="0" smtClean="0"/>
          </a:p>
          <a:p>
            <a:r>
              <a:rPr lang="en-US" dirty="0" smtClean="0"/>
              <a:t>Sum</a:t>
            </a:r>
            <a:r>
              <a:rPr lang="en-US" dirty="0"/>
              <a:t>: 15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2599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8686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Python Keyword </a:t>
            </a:r>
            <a:r>
              <a:rPr lang="en-IN" sz="2400" b="1" dirty="0" smtClean="0">
                <a:solidFill>
                  <a:srgbClr val="FF0000"/>
                </a:solidFill>
              </a:rPr>
              <a:t>Argument</a:t>
            </a:r>
          </a:p>
          <a:p>
            <a:endParaRPr lang="en-IN" sz="2400" b="1" dirty="0"/>
          </a:p>
          <a:p>
            <a:r>
              <a:rPr lang="en-US" b="1" dirty="0"/>
              <a:t>In keyword arguments, arguments are assigned based on the name of the arguments</a:t>
            </a:r>
            <a:r>
              <a:rPr lang="en-US" b="1" dirty="0" smtClean="0"/>
              <a:t>.</a:t>
            </a:r>
          </a:p>
          <a:p>
            <a:endParaRPr lang="en-US" b="1" dirty="0" smtClean="0"/>
          </a:p>
          <a:p>
            <a:r>
              <a:rPr lang="en-US" b="1" dirty="0"/>
              <a:t>def </a:t>
            </a:r>
            <a:r>
              <a:rPr lang="en-US" b="1" dirty="0" err="1"/>
              <a:t>display_info</a:t>
            </a:r>
            <a:r>
              <a:rPr lang="en-US" b="1" dirty="0"/>
              <a:t>(</a:t>
            </a:r>
            <a:r>
              <a:rPr lang="en-US" b="1" dirty="0" err="1"/>
              <a:t>first_name</a:t>
            </a:r>
            <a:r>
              <a:rPr lang="en-US" b="1" dirty="0"/>
              <a:t>, </a:t>
            </a:r>
            <a:r>
              <a:rPr lang="en-US" b="1" dirty="0" err="1"/>
              <a:t>last_name</a:t>
            </a:r>
            <a:r>
              <a:rPr lang="en-US" b="1" dirty="0"/>
              <a:t>):</a:t>
            </a:r>
          </a:p>
          <a:p>
            <a:r>
              <a:rPr lang="en-US" b="1" dirty="0"/>
              <a:t>    print('First Name:', </a:t>
            </a:r>
            <a:r>
              <a:rPr lang="en-US" b="1" dirty="0" err="1"/>
              <a:t>first_name</a:t>
            </a:r>
            <a:r>
              <a:rPr lang="en-US" b="1" dirty="0"/>
              <a:t>)</a:t>
            </a:r>
          </a:p>
          <a:p>
            <a:r>
              <a:rPr lang="en-US" b="1" dirty="0"/>
              <a:t>    print('Last Name:', </a:t>
            </a:r>
            <a:r>
              <a:rPr lang="en-US" b="1" dirty="0" err="1"/>
              <a:t>last_name</a:t>
            </a:r>
            <a:r>
              <a:rPr lang="en-US" b="1" dirty="0"/>
              <a:t>)</a:t>
            </a:r>
          </a:p>
          <a:p>
            <a:endParaRPr lang="en-US" b="1" dirty="0"/>
          </a:p>
          <a:p>
            <a:r>
              <a:rPr lang="en-US" b="1" dirty="0" err="1"/>
              <a:t>display_info</a:t>
            </a:r>
            <a:r>
              <a:rPr lang="en-US" b="1" dirty="0"/>
              <a:t>(</a:t>
            </a:r>
            <a:r>
              <a:rPr lang="en-US" b="1" dirty="0" err="1"/>
              <a:t>last_name</a:t>
            </a:r>
            <a:r>
              <a:rPr lang="en-US" b="1" dirty="0"/>
              <a:t> = '</a:t>
            </a:r>
            <a:r>
              <a:rPr lang="en-US" b="1" dirty="0" err="1"/>
              <a:t>Cartman</a:t>
            </a:r>
            <a:r>
              <a:rPr lang="en-US" b="1" dirty="0"/>
              <a:t>', </a:t>
            </a:r>
            <a:r>
              <a:rPr lang="en-US" b="1" dirty="0" err="1"/>
              <a:t>first_name</a:t>
            </a:r>
            <a:r>
              <a:rPr lang="en-US" b="1" dirty="0"/>
              <a:t> = 'Eric</a:t>
            </a:r>
            <a:r>
              <a:rPr lang="en-US" b="1" dirty="0" smtClean="0"/>
              <a:t>')</a:t>
            </a:r>
          </a:p>
          <a:p>
            <a:r>
              <a:rPr lang="en-US" b="1" dirty="0"/>
              <a:t>Output</a:t>
            </a:r>
          </a:p>
          <a:p>
            <a:r>
              <a:rPr lang="en-US" b="1" dirty="0"/>
              <a:t>First Name: Eric Last Name: </a:t>
            </a:r>
            <a:r>
              <a:rPr lang="en-US" b="1" dirty="0" err="1" smtClean="0"/>
              <a:t>Cartman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/>
              <a:t>In such scenarios, the position of arguments doesn't matter.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5841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76200"/>
            <a:ext cx="8763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Python Function With Arbitrary Arguments</a:t>
            </a:r>
          </a:p>
          <a:p>
            <a:r>
              <a:rPr lang="en-US" b="1" dirty="0"/>
              <a:t>Sometimes, we do not know in advance the number of arguments that will be passed into a function. To handle this kind of situation, we can use </a:t>
            </a:r>
            <a:r>
              <a:rPr lang="en-US" b="1" dirty="0">
                <a:hlinkClick r:id="rId2"/>
              </a:rPr>
              <a:t>arbitrary arguments in Python</a:t>
            </a:r>
            <a:r>
              <a:rPr lang="en-US" b="1" dirty="0"/>
              <a:t>.</a:t>
            </a:r>
          </a:p>
          <a:p>
            <a:r>
              <a:rPr lang="en-US" b="1" dirty="0"/>
              <a:t>Arbitrary arguments allow us to pass a varying number of values during a function call.</a:t>
            </a:r>
          </a:p>
          <a:p>
            <a:r>
              <a:rPr lang="en-US" b="1" dirty="0"/>
              <a:t>We use an asterisk (*) before the parameter name to denote this kind of argument.</a:t>
            </a:r>
          </a:p>
          <a:p>
            <a:r>
              <a:rPr lang="en-US" b="1" dirty="0"/>
              <a:t># program to find sum of multiple numbers </a:t>
            </a:r>
          </a:p>
          <a:p>
            <a:r>
              <a:rPr lang="en-US" b="1" dirty="0"/>
              <a:t>def find_sum(*numbers):</a:t>
            </a:r>
          </a:p>
          <a:p>
            <a:r>
              <a:rPr lang="en-US" b="1" dirty="0"/>
              <a:t>    result = </a:t>
            </a:r>
            <a:r>
              <a:rPr lang="en-US" b="1" dirty="0" smtClean="0"/>
              <a:t>0</a:t>
            </a:r>
            <a:endParaRPr lang="en-US" b="1" dirty="0"/>
          </a:p>
          <a:p>
            <a:r>
              <a:rPr lang="en-US" b="1" dirty="0"/>
              <a:t>    for </a:t>
            </a:r>
            <a:r>
              <a:rPr lang="en-US" b="1" dirty="0" err="1"/>
              <a:t>num</a:t>
            </a:r>
            <a:r>
              <a:rPr lang="en-US" b="1" dirty="0"/>
              <a:t> in numbers:</a:t>
            </a:r>
          </a:p>
          <a:p>
            <a:r>
              <a:rPr lang="en-US" b="1" dirty="0"/>
              <a:t>        result = result + </a:t>
            </a:r>
            <a:r>
              <a:rPr lang="en-US" b="1" dirty="0" err="1" smtClean="0"/>
              <a:t>num</a:t>
            </a:r>
            <a:endParaRPr lang="en-US" b="1" dirty="0"/>
          </a:p>
          <a:p>
            <a:r>
              <a:rPr lang="en-US" b="1" dirty="0"/>
              <a:t>    print("Sum = ", result</a:t>
            </a:r>
            <a:r>
              <a:rPr lang="en-US" b="1" dirty="0" smtClean="0"/>
              <a:t>)</a:t>
            </a:r>
            <a:endParaRPr lang="en-US" b="1" dirty="0"/>
          </a:p>
          <a:p>
            <a:r>
              <a:rPr lang="en-US" b="1" dirty="0"/>
              <a:t># function call with 3 arguments</a:t>
            </a:r>
          </a:p>
          <a:p>
            <a:r>
              <a:rPr lang="en-US" b="1" dirty="0" err="1"/>
              <a:t>find_sum</a:t>
            </a:r>
            <a:r>
              <a:rPr lang="en-US" b="1" dirty="0"/>
              <a:t>(1, 2, 3</a:t>
            </a:r>
            <a:r>
              <a:rPr lang="en-US" b="1" dirty="0" smtClean="0"/>
              <a:t>)</a:t>
            </a:r>
            <a:endParaRPr lang="en-US" b="1" dirty="0"/>
          </a:p>
          <a:p>
            <a:r>
              <a:rPr lang="en-US" b="1" dirty="0"/>
              <a:t># function call with 2 arguments</a:t>
            </a:r>
          </a:p>
          <a:p>
            <a:r>
              <a:rPr lang="en-US" b="1" dirty="0" err="1"/>
              <a:t>find_sum</a:t>
            </a:r>
            <a:r>
              <a:rPr lang="en-US" b="1" dirty="0"/>
              <a:t>(4, 9</a:t>
            </a:r>
            <a:r>
              <a:rPr lang="en-US" b="1" dirty="0" smtClean="0"/>
              <a:t>)</a:t>
            </a:r>
          </a:p>
          <a:p>
            <a:r>
              <a:rPr lang="en-US" b="1" dirty="0"/>
              <a:t>Output</a:t>
            </a:r>
          </a:p>
          <a:p>
            <a:r>
              <a:rPr lang="en-US" b="1" dirty="0"/>
              <a:t>Sum = 6 </a:t>
            </a:r>
            <a:endParaRPr lang="en-US" b="1" dirty="0" smtClean="0"/>
          </a:p>
          <a:p>
            <a:r>
              <a:rPr lang="en-US" b="1" dirty="0" smtClean="0"/>
              <a:t>Sum </a:t>
            </a:r>
            <a:r>
              <a:rPr lang="en-US" b="1" dirty="0"/>
              <a:t>= </a:t>
            </a:r>
            <a:r>
              <a:rPr lang="en-US" b="1" dirty="0" smtClean="0"/>
              <a:t>13</a:t>
            </a:r>
          </a:p>
          <a:p>
            <a:r>
              <a:rPr lang="en-US" b="1" dirty="0"/>
              <a:t>Note: After getting multiple values, </a:t>
            </a:r>
            <a:r>
              <a:rPr lang="en-US" b="1" dirty="0"/>
              <a:t>numbers</a:t>
            </a:r>
            <a:r>
              <a:rPr lang="en-US" b="1" dirty="0"/>
              <a:t> behave as an </a:t>
            </a:r>
            <a:r>
              <a:rPr lang="en-US" b="1" dirty="0">
                <a:hlinkClick r:id="rId3"/>
              </a:rPr>
              <a:t>array</a:t>
            </a:r>
            <a:r>
              <a:rPr lang="en-US" b="1" dirty="0"/>
              <a:t> so we are able to use the </a:t>
            </a:r>
            <a:r>
              <a:rPr lang="en-US" b="1" dirty="0">
                <a:hlinkClick r:id="rId4"/>
              </a:rPr>
              <a:t>for loop</a:t>
            </a:r>
            <a:r>
              <a:rPr lang="en-US" b="1" dirty="0"/>
              <a:t> to access each value.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36520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81000"/>
            <a:ext cx="868680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The return </a:t>
            </a:r>
            <a:r>
              <a:rPr lang="en-IN" sz="2400" b="1" dirty="0" smtClean="0">
                <a:solidFill>
                  <a:srgbClr val="FF0000"/>
                </a:solidFill>
              </a:rPr>
              <a:t>Statement</a:t>
            </a:r>
          </a:p>
          <a:p>
            <a:endParaRPr lang="en-IN" sz="2400" b="1" dirty="0"/>
          </a:p>
          <a:p>
            <a:r>
              <a:rPr lang="en-US" b="1" dirty="0"/>
              <a:t>We return a value from the function using the </a:t>
            </a:r>
            <a:r>
              <a:rPr lang="en-US" b="1" dirty="0"/>
              <a:t>return</a:t>
            </a:r>
            <a:r>
              <a:rPr lang="en-US" b="1" dirty="0"/>
              <a:t> statement</a:t>
            </a:r>
            <a:r>
              <a:rPr lang="en-US" b="1" dirty="0" smtClean="0"/>
              <a:t>.</a:t>
            </a:r>
          </a:p>
          <a:p>
            <a:r>
              <a:rPr lang="en-US" b="1" dirty="0"/>
              <a:t># function definition</a:t>
            </a:r>
          </a:p>
          <a:p>
            <a:r>
              <a:rPr lang="en-US" b="1" dirty="0"/>
              <a:t>def </a:t>
            </a:r>
            <a:r>
              <a:rPr lang="en-US" b="1" dirty="0" err="1"/>
              <a:t>find_square</a:t>
            </a:r>
            <a:r>
              <a:rPr lang="en-US" b="1" dirty="0"/>
              <a:t>(</a:t>
            </a:r>
            <a:r>
              <a:rPr lang="en-US" b="1" dirty="0" err="1"/>
              <a:t>num</a:t>
            </a:r>
            <a:r>
              <a:rPr lang="en-US" b="1" dirty="0"/>
              <a:t>):</a:t>
            </a:r>
          </a:p>
          <a:p>
            <a:r>
              <a:rPr lang="en-US" b="1" dirty="0"/>
              <a:t>    result = </a:t>
            </a:r>
            <a:r>
              <a:rPr lang="en-US" b="1" dirty="0" err="1"/>
              <a:t>num</a:t>
            </a:r>
            <a:r>
              <a:rPr lang="en-US" b="1" dirty="0"/>
              <a:t> * </a:t>
            </a:r>
            <a:r>
              <a:rPr lang="en-US" b="1" dirty="0" err="1"/>
              <a:t>num</a:t>
            </a:r>
            <a:endParaRPr lang="en-US" b="1" dirty="0"/>
          </a:p>
          <a:p>
            <a:r>
              <a:rPr lang="en-US" b="1" dirty="0"/>
              <a:t>    return result</a:t>
            </a:r>
          </a:p>
          <a:p>
            <a:endParaRPr lang="en-US" b="1" dirty="0"/>
          </a:p>
          <a:p>
            <a:r>
              <a:rPr lang="en-US" b="1" dirty="0"/>
              <a:t># function call</a:t>
            </a:r>
          </a:p>
          <a:p>
            <a:r>
              <a:rPr lang="en-US" b="1" dirty="0"/>
              <a:t>square = </a:t>
            </a:r>
            <a:r>
              <a:rPr lang="en-US" b="1" dirty="0" err="1"/>
              <a:t>find_square</a:t>
            </a:r>
            <a:r>
              <a:rPr lang="en-US" b="1" dirty="0"/>
              <a:t>(3)</a:t>
            </a:r>
          </a:p>
          <a:p>
            <a:endParaRPr lang="en-US" b="1" dirty="0"/>
          </a:p>
          <a:p>
            <a:r>
              <a:rPr lang="en-US" b="1" dirty="0"/>
              <a:t>print('Square:', square</a:t>
            </a:r>
            <a:r>
              <a:rPr lang="en-US" b="1" dirty="0" smtClean="0"/>
              <a:t>)</a:t>
            </a:r>
          </a:p>
          <a:p>
            <a:r>
              <a:rPr lang="en-IN" b="1" dirty="0"/>
              <a:t>Output</a:t>
            </a:r>
          </a:p>
          <a:p>
            <a:r>
              <a:rPr lang="en-IN" b="1" dirty="0"/>
              <a:t>Square: </a:t>
            </a:r>
            <a:r>
              <a:rPr lang="en-IN" b="1" dirty="0" smtClean="0"/>
              <a:t>9</a:t>
            </a:r>
          </a:p>
          <a:p>
            <a:endParaRPr lang="en-US" b="1" dirty="0"/>
          </a:p>
          <a:p>
            <a:r>
              <a:rPr lang="en-US" b="1" dirty="0"/>
              <a:t>Note: The </a:t>
            </a:r>
            <a:r>
              <a:rPr lang="en-US" b="1" dirty="0"/>
              <a:t>return</a:t>
            </a:r>
            <a:r>
              <a:rPr lang="en-US" b="1" dirty="0"/>
              <a:t> statement also denotes that the function has ended. Any code after </a:t>
            </a:r>
            <a:r>
              <a:rPr lang="en-US" b="1" dirty="0"/>
              <a:t>return</a:t>
            </a:r>
            <a:r>
              <a:rPr lang="en-US" b="1" dirty="0"/>
              <a:t> is not executed.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87163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81000"/>
            <a:ext cx="8534400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The pass </a:t>
            </a:r>
            <a:r>
              <a:rPr lang="en-IN" sz="2400" b="1" dirty="0" smtClean="0">
                <a:solidFill>
                  <a:srgbClr val="FF0000"/>
                </a:solidFill>
              </a:rPr>
              <a:t>Statement</a:t>
            </a:r>
          </a:p>
          <a:p>
            <a:endParaRPr lang="en-IN" sz="2400" b="1" dirty="0" smtClean="0"/>
          </a:p>
          <a:p>
            <a:r>
              <a:rPr lang="en-US" sz="2000" b="1" dirty="0"/>
              <a:t>The pass statement serves as a placeholder for future code, preventing errors from empty code blocks</a:t>
            </a:r>
            <a:r>
              <a:rPr lang="en-US" sz="2000" b="1" dirty="0" smtClean="0"/>
              <a:t>.</a:t>
            </a:r>
          </a:p>
          <a:p>
            <a:endParaRPr lang="en-US" sz="2000" b="1" dirty="0"/>
          </a:p>
          <a:p>
            <a:r>
              <a:rPr lang="en-US" sz="2000" b="1" dirty="0"/>
              <a:t>It's typically used where code is planned but has yet to be written.</a:t>
            </a:r>
          </a:p>
          <a:p>
            <a:endParaRPr lang="en-US" sz="2400" b="1" dirty="0" smtClean="0"/>
          </a:p>
          <a:p>
            <a:r>
              <a:rPr lang="en-US" sz="2000" b="1" dirty="0"/>
              <a:t>def future_function():</a:t>
            </a:r>
          </a:p>
          <a:p>
            <a:r>
              <a:rPr lang="en-US" sz="2000" b="1" dirty="0"/>
              <a:t>    pass</a:t>
            </a:r>
          </a:p>
          <a:p>
            <a:endParaRPr lang="en-US" sz="2000" b="1" dirty="0"/>
          </a:p>
          <a:p>
            <a:r>
              <a:rPr lang="en-US" sz="2000" b="1" dirty="0"/>
              <a:t># this will execute without any action or error</a:t>
            </a:r>
          </a:p>
          <a:p>
            <a:r>
              <a:rPr lang="en-US" sz="2000" b="1" dirty="0"/>
              <a:t>future_function() </a:t>
            </a:r>
            <a:endParaRPr lang="en-US" sz="2000" b="1" dirty="0" smtClean="0"/>
          </a:p>
          <a:p>
            <a:endParaRPr lang="en-US" sz="2000" b="1" dirty="0"/>
          </a:p>
          <a:p>
            <a:r>
              <a:rPr lang="en-US" sz="2000" b="1" dirty="0">
                <a:solidFill>
                  <a:srgbClr val="FF0000"/>
                </a:solidFill>
              </a:rPr>
              <a:t>n = </a:t>
            </a:r>
            <a:r>
              <a:rPr lang="en-US" sz="2000" b="1" dirty="0" smtClean="0">
                <a:solidFill>
                  <a:srgbClr val="FF0000"/>
                </a:solidFill>
              </a:rPr>
              <a:t>10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# use pass inside if statement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if n &gt; 10: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  </a:t>
            </a:r>
            <a:r>
              <a:rPr lang="en-US" sz="2000" b="1" dirty="0" smtClean="0">
                <a:solidFill>
                  <a:srgbClr val="FF0000"/>
                </a:solidFill>
              </a:rPr>
              <a:t>pass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print('Hello</a:t>
            </a:r>
            <a:r>
              <a:rPr lang="en-US" sz="2000" b="1" dirty="0" smtClean="0">
                <a:solidFill>
                  <a:srgbClr val="FF0000"/>
                </a:solidFill>
              </a:rPr>
              <a:t>')</a:t>
            </a:r>
          </a:p>
          <a:p>
            <a:endParaRPr lang="en-IN" sz="2000" b="1" dirty="0">
              <a:solidFill>
                <a:srgbClr val="FF0000"/>
              </a:solidFill>
            </a:endParaRPr>
          </a:p>
          <a:p>
            <a:r>
              <a:rPr lang="en-US" b="1" dirty="0"/>
              <a:t>nothing happens when the pass is executed. It results in no operation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02896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876300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Python Recursive </a:t>
            </a:r>
            <a:r>
              <a:rPr lang="en-IN" sz="2800" b="1" dirty="0" smtClean="0">
                <a:solidFill>
                  <a:srgbClr val="FF0000"/>
                </a:solidFill>
              </a:rPr>
              <a:t>Function</a:t>
            </a:r>
            <a:endParaRPr lang="en-IN" sz="2800" b="1" dirty="0"/>
          </a:p>
          <a:p>
            <a:r>
              <a:rPr lang="en-US" b="1" dirty="0"/>
              <a:t>In Python, we know that a </a:t>
            </a:r>
            <a:r>
              <a:rPr lang="en-US" b="1" dirty="0">
                <a:hlinkClick r:id="rId2"/>
              </a:rPr>
              <a:t>function</a:t>
            </a:r>
            <a:r>
              <a:rPr lang="en-US" b="1" dirty="0"/>
              <a:t> can call other functions</a:t>
            </a:r>
            <a:r>
              <a:rPr lang="en-US" b="1" dirty="0" smtClean="0"/>
              <a:t>.</a:t>
            </a:r>
          </a:p>
          <a:p>
            <a:r>
              <a:rPr lang="en-US" b="1" dirty="0" smtClean="0"/>
              <a:t>It </a:t>
            </a:r>
            <a:r>
              <a:rPr lang="en-US" b="1" dirty="0"/>
              <a:t>is even possible for the function to call itself. </a:t>
            </a:r>
            <a:endParaRPr lang="en-US" b="1" dirty="0" smtClean="0"/>
          </a:p>
          <a:p>
            <a:r>
              <a:rPr lang="en-US" b="1" dirty="0"/>
              <a:t>t</a:t>
            </a:r>
            <a:r>
              <a:rPr lang="en-US" b="1" dirty="0" smtClean="0"/>
              <a:t>hese </a:t>
            </a:r>
            <a:r>
              <a:rPr lang="en-US" b="1" dirty="0"/>
              <a:t>types of construct are termed as recursive functions</a:t>
            </a:r>
            <a:r>
              <a:rPr lang="en-US" b="1" dirty="0" smtClean="0"/>
              <a:t>.</a:t>
            </a:r>
          </a:p>
          <a:p>
            <a:endParaRPr lang="en-US" b="1" dirty="0" smtClean="0"/>
          </a:p>
          <a:p>
            <a:r>
              <a:rPr lang="en-US" b="1" dirty="0"/>
              <a:t>def factorial(x):</a:t>
            </a:r>
          </a:p>
          <a:p>
            <a:r>
              <a:rPr lang="en-US" b="1" dirty="0"/>
              <a:t>    """This is a recursive function</a:t>
            </a:r>
          </a:p>
          <a:p>
            <a:r>
              <a:rPr lang="en-US" b="1" dirty="0"/>
              <a:t>    to find the factorial of an integer"""</a:t>
            </a:r>
          </a:p>
          <a:p>
            <a:endParaRPr lang="en-US" b="1" dirty="0"/>
          </a:p>
          <a:p>
            <a:r>
              <a:rPr lang="en-US" b="1" dirty="0"/>
              <a:t>    if x == 1:</a:t>
            </a:r>
          </a:p>
          <a:p>
            <a:r>
              <a:rPr lang="en-US" b="1" dirty="0"/>
              <a:t>        return 1</a:t>
            </a:r>
          </a:p>
          <a:p>
            <a:r>
              <a:rPr lang="en-US" b="1" dirty="0"/>
              <a:t>    else:</a:t>
            </a:r>
          </a:p>
          <a:p>
            <a:r>
              <a:rPr lang="en-US" b="1" dirty="0"/>
              <a:t>        return (x * factorial(x-1))</a:t>
            </a:r>
          </a:p>
          <a:p>
            <a:endParaRPr lang="en-US" b="1" dirty="0"/>
          </a:p>
          <a:p>
            <a:r>
              <a:rPr lang="en-US" b="1" dirty="0" err="1"/>
              <a:t>num</a:t>
            </a:r>
            <a:r>
              <a:rPr lang="en-US" b="1" dirty="0"/>
              <a:t> = 3</a:t>
            </a:r>
          </a:p>
          <a:p>
            <a:r>
              <a:rPr lang="en-US" b="1" dirty="0"/>
              <a:t>print("The factorial of", </a:t>
            </a:r>
            <a:r>
              <a:rPr lang="en-US" b="1" dirty="0" err="1"/>
              <a:t>num</a:t>
            </a:r>
            <a:r>
              <a:rPr lang="en-US" b="1" dirty="0"/>
              <a:t>, "is", factorial(</a:t>
            </a:r>
            <a:r>
              <a:rPr lang="en-US" b="1" dirty="0" err="1"/>
              <a:t>num</a:t>
            </a:r>
            <a:r>
              <a:rPr lang="en-US" b="1" dirty="0" smtClean="0"/>
              <a:t>))</a:t>
            </a:r>
          </a:p>
          <a:p>
            <a:endParaRPr lang="en-US" b="1" dirty="0"/>
          </a:p>
          <a:p>
            <a:r>
              <a:rPr lang="en-US" b="1" dirty="0"/>
              <a:t>Output</a:t>
            </a:r>
            <a:endParaRPr lang="en-US" dirty="0"/>
          </a:p>
          <a:p>
            <a:r>
              <a:rPr lang="en-US" b="1" dirty="0"/>
              <a:t>The factorial of 3 is </a:t>
            </a:r>
            <a:r>
              <a:rPr lang="en-US" b="1" dirty="0" smtClean="0"/>
              <a:t>6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74745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81000"/>
            <a:ext cx="8458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Each function multiplies the number with the factorial of the number below it until it is equal to one. </a:t>
            </a:r>
            <a:endParaRPr lang="en-US" b="1" dirty="0" smtClean="0"/>
          </a:p>
          <a:p>
            <a:pPr algn="just"/>
            <a:r>
              <a:rPr lang="en-US" b="1" dirty="0" smtClean="0"/>
              <a:t>This </a:t>
            </a:r>
            <a:r>
              <a:rPr lang="en-US" b="1" dirty="0"/>
              <a:t>recursive call can be explained in the following steps</a:t>
            </a:r>
            <a:r>
              <a:rPr lang="en-US" b="1" dirty="0" smtClean="0"/>
              <a:t>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factorial(3) </a:t>
            </a:r>
            <a:r>
              <a:rPr lang="en-US" b="1" dirty="0" smtClean="0"/>
              <a:t>                                # 1st </a:t>
            </a:r>
            <a:r>
              <a:rPr lang="en-US" b="1" dirty="0"/>
              <a:t>call with </a:t>
            </a:r>
            <a:r>
              <a:rPr lang="en-US" b="1" dirty="0" smtClean="0"/>
              <a:t>3</a:t>
            </a:r>
          </a:p>
          <a:p>
            <a:pPr algn="just"/>
            <a:r>
              <a:rPr lang="en-US" b="1" dirty="0" smtClean="0"/>
              <a:t> </a:t>
            </a:r>
            <a:r>
              <a:rPr lang="en-US" b="1" dirty="0"/>
              <a:t>3 * factorial(2) </a:t>
            </a:r>
            <a:r>
              <a:rPr lang="en-US" b="1" dirty="0" smtClean="0"/>
              <a:t>                          #  2nd </a:t>
            </a:r>
            <a:r>
              <a:rPr lang="en-US" b="1" dirty="0"/>
              <a:t>call with </a:t>
            </a:r>
            <a:r>
              <a:rPr lang="en-US" b="1" dirty="0" smtClean="0"/>
              <a:t>2</a:t>
            </a:r>
          </a:p>
          <a:p>
            <a:pPr algn="just"/>
            <a:r>
              <a:rPr lang="en-US" b="1" dirty="0" smtClean="0"/>
              <a:t> </a:t>
            </a:r>
            <a:r>
              <a:rPr lang="en-US" b="1" dirty="0"/>
              <a:t>3 * 2 * factorial(1) </a:t>
            </a:r>
            <a:r>
              <a:rPr lang="en-US" b="1" dirty="0" smtClean="0"/>
              <a:t>                    # </a:t>
            </a:r>
            <a:r>
              <a:rPr lang="en-US" b="1" dirty="0"/>
              <a:t>3rd call with </a:t>
            </a:r>
            <a:r>
              <a:rPr lang="en-US" b="1" dirty="0" smtClean="0"/>
              <a:t>1</a:t>
            </a:r>
          </a:p>
          <a:p>
            <a:pPr algn="just"/>
            <a:r>
              <a:rPr lang="en-US" b="1" dirty="0" smtClean="0"/>
              <a:t> </a:t>
            </a:r>
            <a:r>
              <a:rPr lang="en-US" b="1" dirty="0"/>
              <a:t>3 * 2 * 1 </a:t>
            </a:r>
            <a:r>
              <a:rPr lang="en-US" b="1" dirty="0" smtClean="0"/>
              <a:t>                                     # </a:t>
            </a:r>
            <a:r>
              <a:rPr lang="en-US" b="1" dirty="0"/>
              <a:t>return from 3rd call as </a:t>
            </a:r>
            <a:r>
              <a:rPr lang="en-US" b="1" dirty="0" smtClean="0"/>
              <a:t>number=1</a:t>
            </a:r>
          </a:p>
          <a:p>
            <a:pPr algn="just"/>
            <a:r>
              <a:rPr lang="en-US" b="1" dirty="0" smtClean="0"/>
              <a:t> </a:t>
            </a:r>
            <a:r>
              <a:rPr lang="en-US" b="1" dirty="0"/>
              <a:t>3 * 2 </a:t>
            </a:r>
            <a:r>
              <a:rPr lang="en-US" b="1" dirty="0" smtClean="0"/>
              <a:t>                                          # </a:t>
            </a:r>
            <a:r>
              <a:rPr lang="en-US" b="1" dirty="0"/>
              <a:t>return from 2nd </a:t>
            </a:r>
            <a:r>
              <a:rPr lang="en-US" b="1" dirty="0" smtClean="0"/>
              <a:t>call</a:t>
            </a:r>
          </a:p>
          <a:p>
            <a:pPr algn="just"/>
            <a:r>
              <a:rPr lang="en-US" b="1" dirty="0" smtClean="0"/>
              <a:t> </a:t>
            </a:r>
            <a:r>
              <a:rPr lang="en-US" b="1" dirty="0"/>
              <a:t>6 </a:t>
            </a:r>
            <a:r>
              <a:rPr lang="en-US" b="1" dirty="0" smtClean="0"/>
              <a:t>                                                # </a:t>
            </a:r>
            <a:r>
              <a:rPr lang="en-US" b="1" dirty="0"/>
              <a:t>return from 1st </a:t>
            </a:r>
            <a:r>
              <a:rPr lang="en-US" b="1" dirty="0" smtClean="0"/>
              <a:t>call</a:t>
            </a:r>
          </a:p>
          <a:p>
            <a:pPr algn="just"/>
            <a:endParaRPr lang="en-US" b="1" dirty="0" smtClean="0"/>
          </a:p>
          <a:p>
            <a:pPr algn="just"/>
            <a:r>
              <a:rPr lang="en-US" b="1" dirty="0"/>
              <a:t>Our recursion ends when the number reduces to 1. This is called the base condition.</a:t>
            </a:r>
          </a:p>
          <a:p>
            <a:pPr algn="just"/>
            <a:r>
              <a:rPr lang="en-US" b="1" dirty="0"/>
              <a:t>Every recursive function must have a base condition that stops the recursion or else the function calls itself infinitely.</a:t>
            </a:r>
          </a:p>
          <a:p>
            <a:pPr algn="just"/>
            <a:r>
              <a:rPr lang="en-US" b="1" dirty="0"/>
              <a:t>The Python interpreter limits the depths of recursion to help avoid infinite recursions, resulting in stack overflows.</a:t>
            </a:r>
          </a:p>
          <a:p>
            <a:pPr algn="just"/>
            <a:r>
              <a:rPr lang="en-US" b="1" dirty="0"/>
              <a:t>By default, the maximum depth of recursion is 1000. </a:t>
            </a:r>
            <a:endParaRPr lang="en-US" b="1" dirty="0" smtClean="0"/>
          </a:p>
          <a:p>
            <a:pPr algn="just"/>
            <a:r>
              <a:rPr lang="en-US" b="1" dirty="0" smtClean="0"/>
              <a:t>If </a:t>
            </a:r>
            <a:r>
              <a:rPr lang="en-US" b="1" dirty="0"/>
              <a:t>the limit is crossed, it results in </a:t>
            </a:r>
            <a:r>
              <a:rPr lang="en-US" b="1" dirty="0" err="1"/>
              <a:t>RecursionError</a:t>
            </a:r>
            <a:r>
              <a:rPr lang="en-US" b="1" dirty="0"/>
              <a:t>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38711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228600"/>
            <a:ext cx="8915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# Python program to find the sum of natural using recursive function</a:t>
            </a:r>
          </a:p>
          <a:p>
            <a:endParaRPr lang="en-US" b="1" dirty="0"/>
          </a:p>
          <a:p>
            <a:r>
              <a:rPr lang="en-US" b="1" dirty="0"/>
              <a:t>def recur_sum(n):</a:t>
            </a:r>
          </a:p>
          <a:p>
            <a:r>
              <a:rPr lang="en-US" b="1" dirty="0"/>
              <a:t>   if n &lt;= 1:</a:t>
            </a:r>
          </a:p>
          <a:p>
            <a:r>
              <a:rPr lang="en-US" b="1" dirty="0"/>
              <a:t>       return n</a:t>
            </a:r>
          </a:p>
          <a:p>
            <a:r>
              <a:rPr lang="en-US" b="1" dirty="0"/>
              <a:t>   else:</a:t>
            </a:r>
          </a:p>
          <a:p>
            <a:r>
              <a:rPr lang="en-US" b="1" dirty="0"/>
              <a:t>       return n + recur_sum(n-1)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 err="1"/>
              <a:t>num</a:t>
            </a:r>
            <a:r>
              <a:rPr lang="en-US" b="1" dirty="0"/>
              <a:t> = 16</a:t>
            </a:r>
          </a:p>
          <a:p>
            <a:endParaRPr lang="en-US" b="1" dirty="0"/>
          </a:p>
          <a:p>
            <a:r>
              <a:rPr lang="en-US" b="1" dirty="0"/>
              <a:t>if </a:t>
            </a:r>
            <a:r>
              <a:rPr lang="en-US" b="1" dirty="0" err="1"/>
              <a:t>num</a:t>
            </a:r>
            <a:r>
              <a:rPr lang="en-US" b="1" dirty="0"/>
              <a:t> &lt; 0:</a:t>
            </a:r>
          </a:p>
          <a:p>
            <a:r>
              <a:rPr lang="en-US" b="1" dirty="0"/>
              <a:t>   print("Enter a positive number")</a:t>
            </a:r>
          </a:p>
          <a:p>
            <a:r>
              <a:rPr lang="en-US" b="1" dirty="0"/>
              <a:t>else:</a:t>
            </a:r>
          </a:p>
          <a:p>
            <a:r>
              <a:rPr lang="en-US" b="1" dirty="0"/>
              <a:t>   print("The sum is",recur_sum(</a:t>
            </a:r>
            <a:r>
              <a:rPr lang="en-US" b="1" dirty="0" err="1"/>
              <a:t>num</a:t>
            </a:r>
            <a:r>
              <a:rPr lang="en-US" b="1" dirty="0" smtClean="0"/>
              <a:t>))</a:t>
            </a:r>
          </a:p>
          <a:p>
            <a:endParaRPr lang="en-US" b="1" dirty="0"/>
          </a:p>
          <a:p>
            <a:r>
              <a:rPr lang="en-US" b="1" dirty="0"/>
              <a:t>Output</a:t>
            </a:r>
            <a:endParaRPr lang="en-US" dirty="0"/>
          </a:p>
          <a:p>
            <a:r>
              <a:rPr lang="en-US" b="1" dirty="0"/>
              <a:t>The sum is 136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34499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87630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Python Lambda/Anonymous Function</a:t>
            </a:r>
          </a:p>
          <a:p>
            <a:r>
              <a:rPr lang="en-US" dirty="0"/>
              <a:t>In Python, a lambda function is a special type of function without the function </a:t>
            </a:r>
            <a:r>
              <a:rPr lang="en-US" dirty="0" smtClean="0"/>
              <a:t>name</a:t>
            </a:r>
          </a:p>
          <a:p>
            <a:endParaRPr lang="en-US" dirty="0" smtClean="0"/>
          </a:p>
          <a:p>
            <a:r>
              <a:rPr lang="en-US" b="1" dirty="0"/>
              <a:t>Python Lambda Function </a:t>
            </a:r>
            <a:r>
              <a:rPr lang="en-US" b="1" dirty="0" smtClean="0"/>
              <a:t>Declaration</a:t>
            </a:r>
          </a:p>
          <a:p>
            <a:endParaRPr lang="en-US" b="1" dirty="0"/>
          </a:p>
          <a:p>
            <a:r>
              <a:rPr lang="en-US" dirty="0"/>
              <a:t>We use the lambda </a:t>
            </a:r>
            <a:r>
              <a:rPr lang="en-US" dirty="0">
                <a:hlinkClick r:id="rId2"/>
              </a:rPr>
              <a:t>keyword</a:t>
            </a:r>
            <a:r>
              <a:rPr lang="en-US" dirty="0"/>
              <a:t> instead of def to create a lambda function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IN" dirty="0"/>
              <a:t>lambda</a:t>
            </a:r>
            <a:r>
              <a:rPr lang="en-IN" dirty="0"/>
              <a:t> argument(s) : expression </a:t>
            </a:r>
            <a:endParaRPr lang="en-IN" dirty="0" smtClean="0"/>
          </a:p>
          <a:p>
            <a:r>
              <a:rPr lang="en-US" dirty="0"/>
              <a:t>Here,</a:t>
            </a:r>
          </a:p>
          <a:p>
            <a:r>
              <a:rPr lang="en-US" dirty="0"/>
              <a:t>argument(s) - any value passed to the lambda function</a:t>
            </a:r>
          </a:p>
          <a:p>
            <a:r>
              <a:rPr lang="en-US" dirty="0"/>
              <a:t>expression - expression is executed and </a:t>
            </a:r>
            <a:r>
              <a:rPr lang="en-US" dirty="0" smtClean="0"/>
              <a:t>returned</a:t>
            </a:r>
          </a:p>
          <a:p>
            <a:endParaRPr lang="en-US" dirty="0" smtClean="0"/>
          </a:p>
          <a:p>
            <a:r>
              <a:rPr lang="en-US" b="1" dirty="0">
                <a:solidFill>
                  <a:srgbClr val="FF0000"/>
                </a:solidFill>
              </a:rPr>
              <a:t>greet = </a:t>
            </a:r>
            <a:r>
              <a:rPr lang="en-US" b="1" dirty="0">
                <a:solidFill>
                  <a:srgbClr val="FF0000"/>
                </a:solidFill>
              </a:rPr>
              <a:t>lambda</a:t>
            </a:r>
            <a:r>
              <a:rPr lang="en-US" b="1" dirty="0">
                <a:solidFill>
                  <a:srgbClr val="FF0000"/>
                </a:solidFill>
              </a:rPr>
              <a:t> : </a:t>
            </a:r>
            <a:r>
              <a:rPr lang="en-US" b="1" dirty="0">
                <a:solidFill>
                  <a:srgbClr val="FF0000"/>
                </a:solidFill>
              </a:rPr>
              <a:t>print</a:t>
            </a: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b="1" dirty="0">
                <a:solidFill>
                  <a:srgbClr val="FF0000"/>
                </a:solidFill>
              </a:rPr>
              <a:t>'Hello World</a:t>
            </a:r>
            <a:r>
              <a:rPr lang="en-US" b="1" dirty="0" smtClean="0">
                <a:solidFill>
                  <a:srgbClr val="FF0000"/>
                </a:solidFill>
              </a:rPr>
              <a:t>')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rgbClr val="FF0000"/>
                </a:solidFill>
              </a:rPr>
              <a:t># call the lambda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endParaRPr lang="en-IN" b="1" dirty="0" smtClean="0">
              <a:solidFill>
                <a:srgbClr val="FF0000"/>
              </a:solidFill>
            </a:endParaRPr>
          </a:p>
          <a:p>
            <a:r>
              <a:rPr lang="en-IN" b="1" dirty="0" smtClean="0">
                <a:solidFill>
                  <a:srgbClr val="FF0000"/>
                </a:solidFill>
              </a:rPr>
              <a:t>greet()</a:t>
            </a:r>
          </a:p>
          <a:p>
            <a:endParaRPr lang="en-IN" b="1" dirty="0" smtClean="0">
              <a:solidFill>
                <a:srgbClr val="FF0000"/>
              </a:solidFill>
            </a:endParaRPr>
          </a:p>
          <a:p>
            <a:r>
              <a:rPr lang="en-US" dirty="0"/>
              <a:t># lambda that accepts one argument</a:t>
            </a:r>
          </a:p>
          <a:p>
            <a:r>
              <a:rPr lang="en-US" dirty="0" err="1"/>
              <a:t>greet_user</a:t>
            </a:r>
            <a:r>
              <a:rPr lang="en-US" dirty="0"/>
              <a:t> = lambda </a:t>
            </a:r>
            <a:r>
              <a:rPr lang="en-US" dirty="0">
                <a:solidFill>
                  <a:srgbClr val="FF0000"/>
                </a:solidFill>
              </a:rPr>
              <a:t>name </a:t>
            </a:r>
            <a:r>
              <a:rPr lang="en-US" dirty="0"/>
              <a:t>: print('Hey there,', name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# lambda call</a:t>
            </a:r>
          </a:p>
          <a:p>
            <a:r>
              <a:rPr lang="en-US" dirty="0" err="1"/>
              <a:t>greet_user</a:t>
            </a:r>
            <a:r>
              <a:rPr lang="en-US" dirty="0" smtClean="0"/>
              <a:t>(‘</a:t>
            </a:r>
            <a:r>
              <a:rPr lang="en-US" dirty="0" err="1" smtClean="0"/>
              <a:t>gaurav</a:t>
            </a:r>
            <a:r>
              <a:rPr lang="en-US" dirty="0" smtClean="0"/>
              <a:t>')</a:t>
            </a:r>
            <a:endParaRPr lang="en-US" dirty="0"/>
          </a:p>
          <a:p>
            <a:r>
              <a:rPr lang="en-US" dirty="0"/>
              <a:t># Output: Hey there, </a:t>
            </a:r>
            <a:r>
              <a:rPr lang="en-US" dirty="0" err="1"/>
              <a:t>gaurav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4941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88392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 </a:t>
            </a:r>
            <a:r>
              <a:rPr lang="en-US" sz="2000" b="1" dirty="0">
                <a:solidFill>
                  <a:srgbClr val="FF0000"/>
                </a:solidFill>
                <a:hlinkClick r:id="rId2"/>
              </a:rPr>
              <a:t>filter()</a:t>
            </a:r>
            <a:r>
              <a:rPr lang="en-US" sz="2000" b="1" dirty="0"/>
              <a:t> function in Python takes in a function and an </a:t>
            </a:r>
            <a:r>
              <a:rPr lang="en-US" sz="2000" b="1" dirty="0" err="1"/>
              <a:t>iterable</a:t>
            </a:r>
            <a:r>
              <a:rPr lang="en-US" sz="2000" b="1" dirty="0"/>
              <a:t> (</a:t>
            </a:r>
            <a:r>
              <a:rPr lang="en-US" sz="2000" b="1" dirty="0">
                <a:hlinkClick r:id="rId3"/>
              </a:rPr>
              <a:t>lists</a:t>
            </a:r>
            <a:r>
              <a:rPr lang="en-US" sz="2000" b="1" dirty="0"/>
              <a:t>, </a:t>
            </a:r>
            <a:r>
              <a:rPr lang="en-US" sz="2000" b="1" dirty="0">
                <a:hlinkClick r:id="rId4"/>
              </a:rPr>
              <a:t>tuples</a:t>
            </a:r>
            <a:r>
              <a:rPr lang="en-US" sz="2000" b="1" dirty="0"/>
              <a:t>, and </a:t>
            </a:r>
            <a:r>
              <a:rPr lang="en-US" sz="2000" b="1" dirty="0">
                <a:hlinkClick r:id="rId5"/>
              </a:rPr>
              <a:t>strings</a:t>
            </a:r>
            <a:r>
              <a:rPr lang="en-US" sz="2000" b="1" dirty="0"/>
              <a:t>) as arguments</a:t>
            </a:r>
            <a:r>
              <a:rPr lang="en-US" sz="2000" b="1" dirty="0" smtClean="0"/>
              <a:t>.</a:t>
            </a:r>
          </a:p>
          <a:p>
            <a:endParaRPr lang="en-US" sz="2000" b="1" dirty="0"/>
          </a:p>
          <a:p>
            <a:r>
              <a:rPr lang="en-US" sz="2000" b="1" dirty="0"/>
              <a:t>The function is called with all the items in the list, and a new list is returned, which contains items for which the function evaluates to </a:t>
            </a:r>
            <a:r>
              <a:rPr lang="en-US" sz="2000" b="1" dirty="0"/>
              <a:t>True</a:t>
            </a:r>
            <a:r>
              <a:rPr lang="en-US" sz="2000" b="1" dirty="0" smtClean="0"/>
              <a:t>.</a:t>
            </a:r>
          </a:p>
          <a:p>
            <a:endParaRPr lang="en-US" sz="2000" b="1" dirty="0"/>
          </a:p>
          <a:p>
            <a:r>
              <a:rPr lang="en-US" sz="2000" b="1" dirty="0"/>
              <a:t># program to filter out only the even items from a list</a:t>
            </a:r>
          </a:p>
          <a:p>
            <a:r>
              <a:rPr lang="en-US" sz="2000" b="1" dirty="0"/>
              <a:t>my_list = [1, 5, 4, 6, 8, 11, 3, 12]</a:t>
            </a:r>
          </a:p>
          <a:p>
            <a:endParaRPr lang="en-US" sz="2000" b="1" dirty="0"/>
          </a:p>
          <a:p>
            <a:r>
              <a:rPr lang="en-US" sz="2000" b="1" dirty="0" err="1">
                <a:solidFill>
                  <a:srgbClr val="FF0000"/>
                </a:solidFill>
              </a:rPr>
              <a:t>new_list</a:t>
            </a:r>
            <a:r>
              <a:rPr lang="en-US" sz="2000" b="1" dirty="0">
                <a:solidFill>
                  <a:srgbClr val="FF0000"/>
                </a:solidFill>
              </a:rPr>
              <a:t> = list(filter(lambda x: (x%2 == 0) , my_list))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/>
              <a:t>print(</a:t>
            </a:r>
            <a:r>
              <a:rPr lang="en-US" sz="2000" b="1" dirty="0" err="1"/>
              <a:t>new_list</a:t>
            </a:r>
            <a:r>
              <a:rPr lang="en-US" sz="2000" b="1" dirty="0"/>
              <a:t>)</a:t>
            </a:r>
          </a:p>
          <a:p>
            <a:endParaRPr lang="en-US" sz="2000" b="1" dirty="0"/>
          </a:p>
          <a:p>
            <a:r>
              <a:rPr lang="en-US" sz="2000" b="1" dirty="0"/>
              <a:t># Output: [4, 6, 8, 12</a:t>
            </a:r>
            <a:r>
              <a:rPr lang="en-US" sz="2000" b="1" dirty="0" smtClean="0"/>
              <a:t>]</a:t>
            </a:r>
          </a:p>
          <a:p>
            <a:endParaRPr lang="en-US" sz="2000" b="1" dirty="0"/>
          </a:p>
          <a:p>
            <a:r>
              <a:rPr lang="en-US" sz="2000" b="1" dirty="0"/>
              <a:t>Here, the </a:t>
            </a:r>
            <a:r>
              <a:rPr lang="en-US" sz="2000" b="1" dirty="0"/>
              <a:t>filter()</a:t>
            </a:r>
            <a:r>
              <a:rPr lang="en-US" sz="2000" b="1" dirty="0"/>
              <a:t> function returns only even numbers from a list.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888607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8763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 </a:t>
            </a:r>
            <a:r>
              <a:rPr lang="en-US" sz="2000" b="1" dirty="0">
                <a:hlinkClick r:id="rId2"/>
              </a:rPr>
              <a:t>map()</a:t>
            </a:r>
            <a:r>
              <a:rPr lang="en-US" sz="2000" b="1" dirty="0"/>
              <a:t> function in Python takes in a function and an </a:t>
            </a:r>
            <a:r>
              <a:rPr lang="en-US" sz="2000" b="1" dirty="0" err="1"/>
              <a:t>iterable</a:t>
            </a:r>
            <a:r>
              <a:rPr lang="en-US" sz="2000" b="1" dirty="0"/>
              <a:t> (lists, tuples, and strings) as arguments</a:t>
            </a:r>
            <a:r>
              <a:rPr lang="en-US" sz="2000" b="1" dirty="0" smtClean="0"/>
              <a:t>.</a:t>
            </a:r>
          </a:p>
          <a:p>
            <a:endParaRPr lang="en-US" sz="2000" b="1" dirty="0"/>
          </a:p>
          <a:p>
            <a:r>
              <a:rPr lang="en-US" sz="2000" b="1" dirty="0"/>
              <a:t>The function is called with all the items in the list, and a new list is returned, which contains items returned by that function for each item</a:t>
            </a:r>
            <a:r>
              <a:rPr lang="en-US" sz="2000" b="1" dirty="0" smtClean="0"/>
              <a:t>.</a:t>
            </a:r>
          </a:p>
          <a:p>
            <a:endParaRPr lang="en-US" sz="2000" b="1" dirty="0"/>
          </a:p>
          <a:p>
            <a:r>
              <a:rPr lang="en-US" sz="2000" b="1" dirty="0"/>
              <a:t>my_list = [1, 5, 4, 6, 8, 11, 3, 12]</a:t>
            </a:r>
          </a:p>
          <a:p>
            <a:endParaRPr lang="en-US" sz="2000" b="1" dirty="0"/>
          </a:p>
          <a:p>
            <a:r>
              <a:rPr lang="en-US" sz="2000" b="1" dirty="0" err="1">
                <a:solidFill>
                  <a:srgbClr val="FF0000"/>
                </a:solidFill>
              </a:rPr>
              <a:t>new_list</a:t>
            </a:r>
            <a:r>
              <a:rPr lang="en-US" sz="2000" b="1" dirty="0">
                <a:solidFill>
                  <a:srgbClr val="FF0000"/>
                </a:solidFill>
              </a:rPr>
              <a:t> = list(map(lambda x: x * 2 , my_list))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/>
              <a:t>print(</a:t>
            </a:r>
            <a:r>
              <a:rPr lang="en-US" sz="2000" b="1" dirty="0" err="1"/>
              <a:t>new_list</a:t>
            </a:r>
            <a:r>
              <a:rPr lang="en-US" sz="2000" b="1" dirty="0"/>
              <a:t>)</a:t>
            </a:r>
          </a:p>
          <a:p>
            <a:endParaRPr lang="en-US" sz="2000" b="1" dirty="0"/>
          </a:p>
          <a:p>
            <a:r>
              <a:rPr lang="en-US" sz="2000" b="1" dirty="0"/>
              <a:t># Output: [2, 10, 8, 12, 16, 22, 6, 24</a:t>
            </a:r>
            <a:r>
              <a:rPr lang="en-US" sz="2000" b="1" dirty="0" smtClean="0"/>
              <a:t>]</a:t>
            </a:r>
          </a:p>
          <a:p>
            <a:endParaRPr lang="en-US" sz="2000" b="1" dirty="0"/>
          </a:p>
          <a:p>
            <a:r>
              <a:rPr lang="en-US" sz="2000" b="1" dirty="0"/>
              <a:t>Here, the </a:t>
            </a:r>
            <a:r>
              <a:rPr lang="en-US" sz="2000" b="1" dirty="0"/>
              <a:t>map()</a:t>
            </a:r>
            <a:r>
              <a:rPr lang="en-US" sz="2000" b="1" dirty="0"/>
              <a:t> function doubles all the items in a list.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568105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133</TotalTime>
  <Words>530</Words>
  <Application>Microsoft Office PowerPoint</Application>
  <PresentationFormat>On-screen Show (4:3)</PresentationFormat>
  <Paragraphs>241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Apothecary</vt:lpstr>
      <vt:lpstr>Python Functions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Functions</dc:title>
  <dc:creator>MSBTEGADGENAGAR</dc:creator>
  <cp:lastModifiedBy>MSBTEGADGENAGAR</cp:lastModifiedBy>
  <cp:revision>11</cp:revision>
  <dcterms:created xsi:type="dcterms:W3CDTF">2006-08-16T00:00:00Z</dcterms:created>
  <dcterms:modified xsi:type="dcterms:W3CDTF">2025-02-27T16:39:04Z</dcterms:modified>
</cp:coreProperties>
</file>